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"/>
  </p:notesMasterIdLst>
  <p:sldIdLst>
    <p:sldId id="569" r:id="rId2"/>
    <p:sldId id="561" r:id="rId3"/>
    <p:sldId id="586" r:id="rId4"/>
    <p:sldId id="585" r:id="rId5"/>
    <p:sldId id="580" r:id="rId6"/>
  </p:sldIdLst>
  <p:sldSz cx="9144000" cy="5715000" type="screen16x1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orient="horz" pos="288">
          <p15:clr>
            <a:srgbClr val="A4A3A4"/>
          </p15:clr>
        </p15:guide>
        <p15:guide id="3" orient="horz" pos="3312">
          <p15:clr>
            <a:srgbClr val="A4A3A4"/>
          </p15:clr>
        </p15:guide>
        <p15:guide id="4" orient="horz" pos="855">
          <p15:clr>
            <a:srgbClr val="A4A3A4"/>
          </p15:clr>
        </p15:guide>
        <p15:guide id="5" pos="2880">
          <p15:clr>
            <a:srgbClr val="A4A3A4"/>
          </p15:clr>
        </p15:guide>
        <p15:guide id="6" pos="521">
          <p15:clr>
            <a:srgbClr val="A4A3A4"/>
          </p15:clr>
        </p15:guide>
        <p15:guide id="7" pos="52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7B9BA"/>
    <a:srgbClr val="4E5B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7" autoAdjust="0"/>
    <p:restoredTop sz="93689" autoAdjust="0"/>
  </p:normalViewPr>
  <p:slideViewPr>
    <p:cSldViewPr showGuides="1">
      <p:cViewPr varScale="1">
        <p:scale>
          <a:sx n="129" d="100"/>
          <a:sy n="129" d="100"/>
        </p:scale>
        <p:origin x="90" y="402"/>
      </p:cViewPr>
      <p:guideLst>
        <p:guide orient="horz" pos="1800"/>
        <p:guide orient="horz" pos="288"/>
        <p:guide orient="horz" pos="3312"/>
        <p:guide orient="horz" pos="855"/>
        <p:guide pos="2880"/>
        <p:guide pos="521"/>
        <p:guide pos="52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80E798-53FF-4C51-A981-953463752515}" type="datetimeFigureOut">
              <a:rPr lang="fr-FR" smtClean="0"/>
              <a:pPr/>
              <a:t>04/03/2026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06CD8F-B7ED-4A05-9FB1-A01CC0EF02CC}" type="slidenum">
              <a:rPr lang="fr-FR" smtClean="0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 bwMode="gray">
          <a:xfrm>
            <a:off x="827089" y="1"/>
            <a:ext cx="7489825" cy="457729"/>
          </a:xfrm>
          <a:noFill/>
        </p:spPr>
        <p:txBody>
          <a:bodyPr anchor="b" anchorCtr="0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827088" y="457729"/>
            <a:ext cx="7489825" cy="479558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/>
              <a:t>Click to edit Master subtitle style</a:t>
            </a:r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26/07/2013</a:t>
            </a:r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Page </a:t>
            </a:r>
            <a:fld id="{733122C9-A0B9-462F-8757-0847AD287B63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 noProof="0"/>
              <a:t>HPXM2025  M. Sanchez del Rio  </a:t>
            </a:r>
            <a:endParaRPr lang="en-US" noProof="0" dirty="0"/>
          </a:p>
        </p:txBody>
      </p:sp>
      <p:pic>
        <p:nvPicPr>
          <p:cNvPr id="9" name="Image 8" descr="logo_couv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72000" y="1417500"/>
            <a:ext cx="7200000" cy="288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727200" y="126000"/>
            <a:ext cx="8236800" cy="496800"/>
          </a:xfrm>
          <a:solidFill>
            <a:schemeClr val="accent1"/>
          </a:solidFill>
        </p:spPr>
        <p:txBody>
          <a:bodyPr lIns="108000" tIns="0" rIns="108000" anchor="ctr" anchorCtr="0"/>
          <a:lstStyle>
            <a:lvl1pPr>
              <a:lnSpc>
                <a:spcPct val="85000"/>
              </a:lnSpc>
              <a:defRPr sz="25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 bwMode="gray">
          <a:xfrm>
            <a:off x="3351600" y="915000"/>
            <a:ext cx="5612400" cy="2970000"/>
          </a:xfrm>
          <a:solidFill>
            <a:srgbClr val="4E5B99"/>
          </a:solidFill>
        </p:spPr>
        <p:txBody>
          <a:bodyPr lIns="216000" tIns="252000"/>
          <a:lstStyle>
            <a:lvl1pPr marL="0" indent="0">
              <a:spcAft>
                <a:spcPts val="300"/>
              </a:spcAft>
              <a:buFont typeface="Arial" pitchFamily="34" charset="0"/>
              <a:buNone/>
              <a:defRPr sz="2800">
                <a:solidFill>
                  <a:schemeClr val="bg1"/>
                </a:solidFill>
              </a:defRPr>
            </a:lvl1pPr>
            <a:lvl2pPr marL="0" indent="0">
              <a:spcBef>
                <a:spcPts val="400"/>
              </a:spcBef>
              <a:spcAft>
                <a:spcPts val="0"/>
              </a:spcAft>
              <a:buFont typeface="Arial" pitchFamily="34" charset="0"/>
              <a:buNone/>
              <a:defRPr sz="2600" b="1">
                <a:solidFill>
                  <a:schemeClr val="bg1"/>
                </a:solidFill>
              </a:defRPr>
            </a:lvl2pPr>
            <a:lvl3pPr marL="0" indent="0">
              <a:lnSpc>
                <a:spcPct val="80000"/>
              </a:lnSpc>
              <a:spcAft>
                <a:spcPts val="0"/>
              </a:spcAft>
              <a:buFont typeface="Arial" pitchFamily="34" charset="0"/>
              <a:buNone/>
              <a:defRPr sz="225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80000"/>
              <a:buNone/>
              <a:defRPr sz="1750">
                <a:solidFill>
                  <a:schemeClr val="bg1"/>
                </a:solidFill>
              </a:defRPr>
            </a:lvl4pPr>
            <a:lvl5pPr marL="0" indent="0">
              <a:lnSpc>
                <a:spcPct val="80000"/>
              </a:lnSpc>
              <a:spcAft>
                <a:spcPts val="0"/>
              </a:spcAft>
              <a:buNone/>
              <a:defRPr sz="1500" b="1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Espace réservé pour une image  7"/>
          <p:cNvSpPr>
            <a:spLocks noGrp="1"/>
          </p:cNvSpPr>
          <p:nvPr>
            <p:ph type="pic" sz="quarter" idx="13"/>
          </p:nvPr>
        </p:nvSpPr>
        <p:spPr>
          <a:xfrm>
            <a:off x="727200" y="915000"/>
            <a:ext cx="2574000" cy="29700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7" name="Espace réservé de la date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noProof="0"/>
              <a:t>26/07/2013</a:t>
            </a:r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noProof="0"/>
              <a:t>Page </a:t>
            </a:r>
            <a:fld id="{733122C9-A0B9-462F-8757-0847AD287B63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9" name="Espace réservé du pied de page 1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it-IT" noProof="0"/>
              <a:t>HPXM2025  M. Sanchez del Rio  </a:t>
            </a:r>
            <a:endParaRPr lang="en-US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 bwMode="gray"/>
        <p:txBody>
          <a:bodyPr/>
          <a:lstStyle>
            <a:lvl4pPr>
              <a:spcBef>
                <a:spcPts val="0"/>
              </a:spcBef>
              <a:spcAft>
                <a:spcPts val="300"/>
              </a:spcAft>
              <a:buSzPct val="80000"/>
              <a:defRPr/>
            </a:lvl4pPr>
            <a:lvl5pPr>
              <a:spcAft>
                <a:spcPts val="300"/>
              </a:spcAft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26/07/2013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noProof="0"/>
              <a:t>Page </a:t>
            </a:r>
            <a:fld id="{733122C9-A0B9-462F-8757-0847AD287B63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it-IT" noProof="0"/>
              <a:t>HPXM2025  M. Sanchez del Rio  </a:t>
            </a:r>
            <a:endParaRPr lang="en-US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 for importing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26/07/2013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noProof="0"/>
              <a:t>Page </a:t>
            </a:r>
            <a:fld id="{733122C9-A0B9-462F-8757-0847AD287B63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it-IT" noProof="0"/>
              <a:t>HPXM2025  M. Sanchez del Rio  </a:t>
            </a:r>
            <a:endParaRPr lang="en-US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logo_texte.jpg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7168056" y="5067000"/>
            <a:ext cx="1975944" cy="648000"/>
          </a:xfrm>
          <a:prstGeom prst="rect">
            <a:avLst/>
          </a:prstGeom>
        </p:spPr>
      </p:pic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727200" y="126000"/>
            <a:ext cx="8236800" cy="496800"/>
          </a:xfrm>
          <a:prstGeom prst="rect">
            <a:avLst/>
          </a:prstGeom>
          <a:solidFill>
            <a:schemeClr val="accent1"/>
          </a:solidFill>
        </p:spPr>
        <p:txBody>
          <a:bodyPr vert="horz" lIns="72000" tIns="0" rIns="72000" bIns="0" rtlCol="0" anchor="ctr" anchorCtr="0">
            <a:noAutofit/>
          </a:bodyPr>
          <a:lstStyle/>
          <a:p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727200" y="805272"/>
            <a:ext cx="8236800" cy="43319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0" y="5587803"/>
            <a:ext cx="611560" cy="12719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26/07/2013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630001" y="5402791"/>
            <a:ext cx="6120000" cy="17707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600" b="1" cap="none" baseline="0">
                <a:solidFill>
                  <a:schemeClr val="accent1"/>
                </a:solidFill>
              </a:defRPr>
            </a:lvl1pPr>
          </a:lstStyle>
          <a:p>
            <a:r>
              <a:rPr lang="it-IT"/>
              <a:t>HPXM2025  M. Sanchez del Rio  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98001" y="5402865"/>
            <a:ext cx="413559" cy="177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600" b="1">
                <a:solidFill>
                  <a:schemeClr val="accent1"/>
                </a:solidFill>
              </a:defRPr>
            </a:lvl1pPr>
          </a:lstStyle>
          <a:p>
            <a:r>
              <a:rPr lang="fr-FR" dirty="0"/>
              <a:t>Page </a:t>
            </a:r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8" name="Rectangle 7"/>
          <p:cNvSpPr/>
          <p:nvPr userDrawn="1"/>
        </p:nvSpPr>
        <p:spPr>
          <a:xfrm>
            <a:off x="180000" y="126000"/>
            <a:ext cx="496800" cy="496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0" r:id="rId3"/>
    <p:sldLayoutId id="2147483654" r:id="rId4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1600" b="1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0"/>
        </a:spcBef>
        <a:spcAft>
          <a:spcPts val="1000"/>
        </a:spcAft>
        <a:buFont typeface="Arial" pitchFamily="34" charset="0"/>
        <a:buNone/>
        <a:defRPr sz="1800" b="1" kern="1200">
          <a:solidFill>
            <a:schemeClr val="accent6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spcBef>
          <a:spcPts val="0"/>
        </a:spcBef>
        <a:spcAft>
          <a:spcPts val="1500"/>
        </a:spcAft>
        <a:buFont typeface="Arial" pitchFamily="34" charset="0"/>
        <a:buNone/>
        <a:defRPr sz="17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5000"/>
        </a:lnSpc>
        <a:spcBef>
          <a:spcPts val="0"/>
        </a:spcBef>
        <a:spcAft>
          <a:spcPts val="500"/>
        </a:spcAft>
        <a:buFont typeface="Arial" pitchFamily="34" charset="0"/>
        <a:buNone/>
        <a:defRPr sz="15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357188" indent="-174625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6"/>
        </a:buClr>
        <a:buSzPct val="80000"/>
        <a:buFont typeface="Wingdings" pitchFamily="2" charset="2"/>
        <a:buChar char="l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162050" indent="-174625" algn="l" defTabSz="914400" rtl="0" eaLnBrk="1" latinLnBrk="0" hangingPunct="1">
        <a:spcBef>
          <a:spcPts val="0"/>
        </a:spcBef>
        <a:spcAft>
          <a:spcPts val="600"/>
        </a:spcAft>
        <a:buClr>
          <a:schemeClr val="accent6"/>
        </a:buClr>
        <a:buFont typeface="ITCOfficinaSans LT Book" pitchFamily="2" charset="0"/>
        <a:buChar char="&gt;"/>
        <a:defRPr sz="1200" 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6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png"/><Relationship Id="rId11" Type="http://schemas.openxmlformats.org/officeDocument/2006/relationships/image" Target="../media/image3.wmf"/><Relationship Id="rId5" Type="http://schemas.openxmlformats.org/officeDocument/2006/relationships/image" Target="../media/image7.png"/><Relationship Id="rId15" Type="http://schemas.openxmlformats.org/officeDocument/2006/relationships/oleObject" Target="../embeddings/oleObject2.bin"/><Relationship Id="rId10" Type="http://schemas.openxmlformats.org/officeDocument/2006/relationships/oleObject" Target="../embeddings/oleObject1.bin"/><Relationship Id="rId4" Type="http://schemas.openxmlformats.org/officeDocument/2006/relationships/image" Target="../media/image6.png"/><Relationship Id="rId9" Type="http://schemas.openxmlformats.org/officeDocument/2006/relationships/image" Target="../media/image14.png"/><Relationship Id="rId1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hadow4.readthedocs.io/" TargetMode="External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7A24E-4FF0-4DC7-866B-728D1B68C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sz="2800" dirty="0"/>
              <a:t>Ray Tracing and Geometrical Optics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90AA82-F2EE-45A4-819E-0212130E53B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noProof="0"/>
              <a:t>Page </a:t>
            </a:r>
            <a:fld id="{733122C9-A0B9-462F-8757-0847AD287B63}" type="slidenum">
              <a:rPr lang="en-US" noProof="0" smtClean="0"/>
              <a:pPr/>
              <a:t>1</a:t>
            </a:fld>
            <a:endParaRPr lang="en-US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47380B-9282-455C-A67B-100C75BDF3A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it-IT" noProof="0"/>
              <a:t>HPXM2025  M. Sanchez del Rio  </a:t>
            </a:r>
            <a:endParaRPr lang="en-US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D657C2-E1F1-48AD-9553-316D9D5F399C}"/>
              </a:ext>
            </a:extLst>
          </p:cNvPr>
          <p:cNvSpPr/>
          <p:nvPr/>
        </p:nvSpPr>
        <p:spPr>
          <a:xfrm>
            <a:off x="1" y="769269"/>
            <a:ext cx="882047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70C0"/>
                </a:solidFill>
                <a:latin typeface="Arial" panose="020B0604020202020204" pitchFamily="34" charset="0"/>
              </a:rPr>
              <a:t>Ray tracing in X-ray optics is a simulation method used to model how X-rays propagate and interact with optical components, like mirrors, lenses, and monochromators.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70C0"/>
                </a:solidFill>
                <a:latin typeface="Arial" panose="020B0604020202020204" pitchFamily="34" charset="0"/>
              </a:rPr>
              <a:t>It relies on approximate solutions to Maxwell's equations that are valid as long as the light waves propagate through and around objects whose dimensions are much greater than the light's wavelength.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70C0"/>
                </a:solidFill>
                <a:latin typeface="Arial" panose="020B0604020202020204" pitchFamily="34" charset="0"/>
              </a:rPr>
              <a:t>It's essential for designing and optimizing beamlines at synchrotrons as well as any X-ray optical system.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06CA0CB-8C91-438D-A32A-10050F11FC83}"/>
              </a:ext>
            </a:extLst>
          </p:cNvPr>
          <p:cNvGrpSpPr/>
          <p:nvPr/>
        </p:nvGrpSpPr>
        <p:grpSpPr>
          <a:xfrm>
            <a:off x="35496" y="2353444"/>
            <a:ext cx="2734393" cy="2105226"/>
            <a:chOff x="74110" y="1531481"/>
            <a:chExt cx="6475524" cy="4985546"/>
          </a:xfrm>
        </p:grpSpPr>
        <p:pic>
          <p:nvPicPr>
            <p:cNvPr id="71" name="image15.png">
              <a:extLst>
                <a:ext uri="{FF2B5EF4-FFF2-40B4-BE49-F238E27FC236}">
                  <a16:creationId xmlns:a16="http://schemas.microsoft.com/office/drawing/2014/main" id="{202CFC6F-B683-409D-BD38-CFB9D716684F}"/>
                </a:ext>
              </a:extLst>
            </p:cNvPr>
            <p:cNvPicPr/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88593" y="1716658"/>
              <a:ext cx="6206644" cy="3207269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72" name="image16.png">
              <a:extLst>
                <a:ext uri="{FF2B5EF4-FFF2-40B4-BE49-F238E27FC236}">
                  <a16:creationId xmlns:a16="http://schemas.microsoft.com/office/drawing/2014/main" id="{CC1FDB65-F68C-44AF-AA50-1A6B5A3B0503}"/>
                </a:ext>
              </a:extLst>
            </p:cNvPr>
            <p:cNvPicPr/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74110" y="1531481"/>
              <a:ext cx="2040865" cy="145411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73" name="image17.png" descr="\begin{align}&#10;\frac{\partial^2 \mathbf{E}}{\partial t^2} - c_0^2 \cdot \nabla^2 \mathbf{E} &amp;= 0\\&#10;\frac{\partial^2 \mathbf{B}}{\partial t^2} - c_0^2 \cdot \nabla^2 \mathbf{B} &amp;= 0&#10;\end{align}">
              <a:extLst>
                <a:ext uri="{FF2B5EF4-FFF2-40B4-BE49-F238E27FC236}">
                  <a16:creationId xmlns:a16="http://schemas.microsoft.com/office/drawing/2014/main" id="{0F5BC327-B824-41E6-B1E8-17EDB25AD387}"/>
                </a:ext>
              </a:extLst>
            </p:cNvPr>
            <p:cNvPicPr/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2024498" y="4015776"/>
              <a:ext cx="1435747" cy="80333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74" name="image18.png" descr=" (\nabla^2 + k^2)\mathbf{E} = 0,\, \mathbf{B} = -\frac{i}{k} \nabla \times \mathbf{E},">
              <a:extLst>
                <a:ext uri="{FF2B5EF4-FFF2-40B4-BE49-F238E27FC236}">
                  <a16:creationId xmlns:a16="http://schemas.microsoft.com/office/drawing/2014/main" id="{429DDA7A-45F8-4678-B3FF-0493C8ECE01C}"/>
                </a:ext>
              </a:extLst>
            </p:cNvPr>
            <p:cNvPicPr/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3162034" y="2825911"/>
              <a:ext cx="2189214" cy="324037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75" name="image14.pdf">
              <a:extLst>
                <a:ext uri="{FF2B5EF4-FFF2-40B4-BE49-F238E27FC236}">
                  <a16:creationId xmlns:a16="http://schemas.microsoft.com/office/drawing/2014/main" id="{2317522B-2C3E-4F6A-824A-D94CEA74C387}"/>
                </a:ext>
              </a:extLst>
            </p:cNvPr>
            <p:cNvPicPr/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4308959" y="4598191"/>
              <a:ext cx="1958528" cy="191883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238CABAB-F11F-427F-AA3B-62BD526FC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540918" y="1675734"/>
              <a:ext cx="2008716" cy="543129"/>
            </a:xfrm>
            <a:prstGeom prst="rect">
              <a:avLst/>
            </a:prstGeom>
          </p:spPr>
        </p:pic>
      </p:grpSp>
      <p:sp>
        <p:nvSpPr>
          <p:cNvPr id="77" name="Rectangle 76">
            <a:extLst>
              <a:ext uri="{FF2B5EF4-FFF2-40B4-BE49-F238E27FC236}">
                <a16:creationId xmlns:a16="http://schemas.microsoft.com/office/drawing/2014/main" id="{3612331C-3752-4403-8F4C-47323680FAB8}"/>
              </a:ext>
            </a:extLst>
          </p:cNvPr>
          <p:cNvSpPr/>
          <p:nvPr/>
        </p:nvSpPr>
        <p:spPr>
          <a:xfrm>
            <a:off x="3221670" y="2742799"/>
            <a:ext cx="725922" cy="11956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84" name="Group 9">
            <a:extLst>
              <a:ext uri="{FF2B5EF4-FFF2-40B4-BE49-F238E27FC236}">
                <a16:creationId xmlns:a16="http://schemas.microsoft.com/office/drawing/2014/main" id="{032FEF18-45BC-423B-8DB0-3DB1FCB44E3D}"/>
              </a:ext>
            </a:extLst>
          </p:cNvPr>
          <p:cNvGrpSpPr>
            <a:grpSpLocks/>
          </p:cNvGrpSpPr>
          <p:nvPr/>
        </p:nvGrpSpPr>
        <p:grpSpPr bwMode="auto">
          <a:xfrm>
            <a:off x="3943322" y="2594122"/>
            <a:ext cx="1647204" cy="1888466"/>
            <a:chOff x="1156" y="1570"/>
            <a:chExt cx="1543" cy="17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Object 6">
                  <a:extLst>
                    <a:ext uri="{FF2B5EF4-FFF2-40B4-BE49-F238E27FC236}">
                      <a16:creationId xmlns:a16="http://schemas.microsoft.com/office/drawing/2014/main" id="{DF2700D6-FFC7-41E5-9D59-30952D5A4038}"/>
                    </a:ext>
                  </a:extLst>
                </p:cNvPr>
                <p:cNvSpPr txBox="1"/>
                <p:nvPr/>
              </p:nvSpPr>
              <p:spPr bwMode="auto">
                <a:xfrm>
                  <a:off x="1746" y="2931"/>
                  <a:ext cx="543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normAutofit fontScale="4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GB" sz="126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126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GB" sz="126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sz="126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GB" sz="126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sz="126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GB" sz="126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sz="126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1260" i="1">
                            <a:latin typeface="Cambria Math" panose="02040503050406030204" pitchFamily="18" charset="0"/>
                          </a:rPr>
                          <m:t>𝑡</m:t>
                        </m:r>
                        <m:acc>
                          <m:accPr>
                            <m:chr m:val="⃗"/>
                            <m:ctrlPr>
                              <a:rPr lang="en-GB" sz="126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126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oMath>
                      <m:oMath xmlns:m="http://schemas.openxmlformats.org/officeDocument/2006/math">
                        <m:r>
                          <a:rPr lang="en-GB" sz="126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GB" sz="1260" i="1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GB" sz="1260"/>
                </a:p>
              </p:txBody>
            </p:sp>
          </mc:Choice>
          <mc:Fallback xmlns="">
            <p:sp>
              <p:nvSpPr>
                <p:cNvPr id="85" name="Object 6">
                  <a:extLst>
                    <a:ext uri="{FF2B5EF4-FFF2-40B4-BE49-F238E27FC236}">
                      <a16:creationId xmlns:a16="http://schemas.microsoft.com/office/drawing/2014/main" id="{DF2700D6-FFC7-41E5-9D59-30952D5A40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46" y="2931"/>
                  <a:ext cx="543" cy="327"/>
                </a:xfrm>
                <a:prstGeom prst="rect">
                  <a:avLst/>
                </a:prstGeom>
                <a:blipFill>
                  <a:blip r:embed="rId9"/>
                  <a:stretch>
                    <a:fillRect t="-8772" r="-10526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6" name="Line 11">
              <a:extLst>
                <a:ext uri="{FF2B5EF4-FFF2-40B4-BE49-F238E27FC236}">
                  <a16:creationId xmlns:a16="http://schemas.microsoft.com/office/drawing/2014/main" id="{6BC448B1-0C6B-44A4-93A3-8D00B52687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6" y="1570"/>
              <a:ext cx="1543" cy="17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 sz="1260"/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C19D8B87-0222-4B47-9AA7-BDAD8C4248B0}"/>
              </a:ext>
            </a:extLst>
          </p:cNvPr>
          <p:cNvGrpSpPr/>
          <p:nvPr/>
        </p:nvGrpSpPr>
        <p:grpSpPr>
          <a:xfrm>
            <a:off x="3652953" y="2836453"/>
            <a:ext cx="3342446" cy="2178834"/>
            <a:chOff x="3652953" y="2836453"/>
            <a:chExt cx="3342446" cy="2178834"/>
          </a:xfrm>
        </p:grpSpPr>
        <p:grpSp>
          <p:nvGrpSpPr>
            <p:cNvPr id="89" name="Group 14">
              <a:extLst>
                <a:ext uri="{FF2B5EF4-FFF2-40B4-BE49-F238E27FC236}">
                  <a16:creationId xmlns:a16="http://schemas.microsoft.com/office/drawing/2014/main" id="{B8123468-579D-4311-AF6F-6A47D3FF1E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08720" y="4192219"/>
              <a:ext cx="1986679" cy="726990"/>
              <a:chOff x="2154" y="3067"/>
              <a:chExt cx="1861" cy="681"/>
            </a:xfrm>
          </p:grpSpPr>
          <p:sp>
            <p:nvSpPr>
              <p:cNvPr id="91" name="Rectangle 15">
                <a:extLst>
                  <a:ext uri="{FF2B5EF4-FFF2-40B4-BE49-F238E27FC236}">
                    <a16:creationId xmlns:a16="http://schemas.microsoft.com/office/drawing/2014/main" id="{73D60777-E9F3-43B5-A747-F61B7F217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54" y="3612"/>
                <a:ext cx="1180" cy="136"/>
              </a:xfrm>
              <a:prstGeom prst="rect">
                <a:avLst/>
              </a:prstGeom>
              <a:solidFill>
                <a:schemeClr val="accent1">
                  <a:alpha val="56862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GB" altLang="en-US" sz="1260"/>
              </a:p>
            </p:txBody>
          </p:sp>
          <p:sp>
            <p:nvSpPr>
              <p:cNvPr id="92" name="Line 16">
                <a:extLst>
                  <a:ext uri="{FF2B5EF4-FFF2-40B4-BE49-F238E27FC236}">
                    <a16:creationId xmlns:a16="http://schemas.microsoft.com/office/drawing/2014/main" id="{64469771-84DD-4895-8627-993373625C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54" y="3067"/>
                <a:ext cx="681" cy="5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1260"/>
              </a:p>
            </p:txBody>
          </p:sp>
          <p:sp>
            <p:nvSpPr>
              <p:cNvPr id="93" name="Line 17">
                <a:extLst>
                  <a:ext uri="{FF2B5EF4-FFF2-40B4-BE49-F238E27FC236}">
                    <a16:creationId xmlns:a16="http://schemas.microsoft.com/office/drawing/2014/main" id="{54E257C0-3F08-4281-AE45-F205AF194F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3" y="3067"/>
                <a:ext cx="681" cy="5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1260"/>
              </a:p>
            </p:txBody>
          </p:sp>
          <p:sp>
            <p:nvSpPr>
              <p:cNvPr id="94" name="Line 18">
                <a:extLst>
                  <a:ext uri="{FF2B5EF4-FFF2-40B4-BE49-F238E27FC236}">
                    <a16:creationId xmlns:a16="http://schemas.microsoft.com/office/drawing/2014/main" id="{3F821D83-C1FF-4F92-8C68-8FB03A03F8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4" y="3203"/>
                <a:ext cx="681" cy="5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1260"/>
              </a:p>
            </p:txBody>
          </p:sp>
          <p:sp>
            <p:nvSpPr>
              <p:cNvPr id="95" name="Line 19">
                <a:extLst>
                  <a:ext uri="{FF2B5EF4-FFF2-40B4-BE49-F238E27FC236}">
                    <a16:creationId xmlns:a16="http://schemas.microsoft.com/office/drawing/2014/main" id="{BF2A447A-C671-404E-9E41-E40D99FFEA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5" y="3067"/>
                <a:ext cx="117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1260"/>
              </a:p>
            </p:txBody>
          </p:sp>
          <p:sp>
            <p:nvSpPr>
              <p:cNvPr id="96" name="Line 20">
                <a:extLst>
                  <a:ext uri="{FF2B5EF4-FFF2-40B4-BE49-F238E27FC236}">
                    <a16:creationId xmlns:a16="http://schemas.microsoft.com/office/drawing/2014/main" id="{927DFD8F-E1ED-4F12-A1D0-8EA1983F38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14" y="3067"/>
                <a:ext cx="0" cy="1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1260"/>
              </a:p>
            </p:txBody>
          </p:sp>
        </p:grpSp>
        <p:grpSp>
          <p:nvGrpSpPr>
            <p:cNvPr id="97" name="Group 22">
              <a:extLst>
                <a:ext uri="{FF2B5EF4-FFF2-40B4-BE49-F238E27FC236}">
                  <a16:creationId xmlns:a16="http://schemas.microsoft.com/office/drawing/2014/main" id="{520EAD94-006F-47B1-8B77-68107EE02B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2953" y="2836453"/>
              <a:ext cx="2227942" cy="1598096"/>
              <a:chOff x="884" y="1797"/>
              <a:chExt cx="2087" cy="1497"/>
            </a:xfrm>
          </p:grpSpPr>
          <p:sp>
            <p:nvSpPr>
              <p:cNvPr id="98" name="Line 23">
                <a:extLst>
                  <a:ext uri="{FF2B5EF4-FFF2-40B4-BE49-F238E27FC236}">
                    <a16:creationId xmlns:a16="http://schemas.microsoft.com/office/drawing/2014/main" id="{9F70B1AE-1330-4BE6-B5A8-A035E86D52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84" y="1797"/>
                <a:ext cx="2087" cy="149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1260"/>
              </a:p>
            </p:txBody>
          </p:sp>
          <p:sp>
            <p:nvSpPr>
              <p:cNvPr id="99" name="Text Box 24">
                <a:extLst>
                  <a:ext uri="{FF2B5EF4-FFF2-40B4-BE49-F238E27FC236}">
                    <a16:creationId xmlns:a16="http://schemas.microsoft.com/office/drawing/2014/main" id="{A70C7DA9-7CDE-436A-8647-B3BACA1E44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07" y="2445"/>
                <a:ext cx="192" cy="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GB" altLang="en-US" sz="1260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p</a:t>
                </a:r>
                <a:endParaRPr lang="en-US" altLang="en-US" sz="1260" dirty="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5" name="Group 40">
              <a:extLst>
                <a:ext uri="{FF2B5EF4-FFF2-40B4-BE49-F238E27FC236}">
                  <a16:creationId xmlns:a16="http://schemas.microsoft.com/office/drawing/2014/main" id="{5DB45288-199C-4509-9A7C-429A2125DB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53905" y="3272006"/>
              <a:ext cx="1647204" cy="1743281"/>
              <a:chOff x="2290" y="2205"/>
              <a:chExt cx="1543" cy="1633"/>
            </a:xfrm>
          </p:grpSpPr>
          <p:sp>
            <p:nvSpPr>
              <p:cNvPr id="116" name="Freeform 41">
                <a:extLst>
                  <a:ext uri="{FF2B5EF4-FFF2-40B4-BE49-F238E27FC236}">
                    <a16:creationId xmlns:a16="http://schemas.microsoft.com/office/drawing/2014/main" id="{66B66D59-3A97-4CCC-B8B6-10A7A8B0B2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2" y="2743"/>
                <a:ext cx="409" cy="233"/>
              </a:xfrm>
              <a:custGeom>
                <a:avLst/>
                <a:gdLst>
                  <a:gd name="T0" fmla="*/ 0 w 409"/>
                  <a:gd name="T1" fmla="*/ 233 h 233"/>
                  <a:gd name="T2" fmla="*/ 137 w 409"/>
                  <a:gd name="T3" fmla="*/ 52 h 233"/>
                  <a:gd name="T4" fmla="*/ 318 w 409"/>
                  <a:gd name="T5" fmla="*/ 7 h 233"/>
                  <a:gd name="T6" fmla="*/ 409 w 409"/>
                  <a:gd name="T7" fmla="*/ 7 h 23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09"/>
                  <a:gd name="T13" fmla="*/ 0 h 233"/>
                  <a:gd name="T14" fmla="*/ 409 w 409"/>
                  <a:gd name="T15" fmla="*/ 233 h 23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09" h="233">
                    <a:moveTo>
                      <a:pt x="0" y="233"/>
                    </a:moveTo>
                    <a:cubicBezTo>
                      <a:pt x="42" y="161"/>
                      <a:pt x="84" y="90"/>
                      <a:pt x="137" y="52"/>
                    </a:cubicBezTo>
                    <a:cubicBezTo>
                      <a:pt x="190" y="14"/>
                      <a:pt x="273" y="14"/>
                      <a:pt x="318" y="7"/>
                    </a:cubicBezTo>
                    <a:cubicBezTo>
                      <a:pt x="363" y="0"/>
                      <a:pt x="386" y="3"/>
                      <a:pt x="409" y="7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 sz="1260"/>
              </a:p>
            </p:txBody>
          </p:sp>
          <p:graphicFrame>
            <p:nvGraphicFramePr>
              <p:cNvPr id="117" name="Object 4">
                <a:extLst>
                  <a:ext uri="{FF2B5EF4-FFF2-40B4-BE49-F238E27FC236}">
                    <a16:creationId xmlns:a16="http://schemas.microsoft.com/office/drawing/2014/main" id="{72853B78-34D3-4D92-A44F-047E8F2C9D9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653" y="2614"/>
              <a:ext cx="96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46" name="Equation" r:id="rId10" imgW="152280" imgH="228600" progId="Equation.DSMT4">
                      <p:embed/>
                    </p:oleObj>
                  </mc:Choice>
                  <mc:Fallback>
                    <p:oleObj name="Equation" r:id="rId10" imgW="152280" imgH="228600" progId="Equation.DSMT4">
                      <p:embed/>
                      <p:pic>
                        <p:nvPicPr>
                          <p:cNvPr id="47" name="Object 4">
                            <a:extLst>
                              <a:ext uri="{FF2B5EF4-FFF2-40B4-BE49-F238E27FC236}">
                                <a16:creationId xmlns:a16="http://schemas.microsoft.com/office/drawing/2014/main" id="{8145EA59-B7E1-4B8A-9B96-302BF949AA9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53" y="2614"/>
                            <a:ext cx="96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 xmlns="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xmlns="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 xmlns="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18" name="Group 43">
                <a:extLst>
                  <a:ext uri="{FF2B5EF4-FFF2-40B4-BE49-F238E27FC236}">
                    <a16:creationId xmlns:a16="http://schemas.microsoft.com/office/drawing/2014/main" id="{CE3F4863-3CA9-4D75-9ED7-ECCA5E59CA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90" y="2205"/>
                <a:ext cx="1543" cy="1633"/>
                <a:chOff x="2290" y="2205"/>
                <a:chExt cx="1543" cy="1633"/>
              </a:xfrm>
            </p:grpSpPr>
            <p:grpSp>
              <p:nvGrpSpPr>
                <p:cNvPr id="119" name="Group 44">
                  <a:extLst>
                    <a:ext uri="{FF2B5EF4-FFF2-40B4-BE49-F238E27FC236}">
                      <a16:creationId xmlns:a16="http://schemas.microsoft.com/office/drawing/2014/main" id="{86AF76DE-07FB-4891-B35D-83419CA631B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90" y="2478"/>
                  <a:ext cx="1543" cy="1360"/>
                  <a:chOff x="2290" y="2478"/>
                  <a:chExt cx="1543" cy="1360"/>
                </a:xfrm>
              </p:grpSpPr>
              <p:sp>
                <p:nvSpPr>
                  <p:cNvPr id="123" name="Line 45">
                    <a:extLst>
                      <a:ext uri="{FF2B5EF4-FFF2-40B4-BE49-F238E27FC236}">
                        <a16:creationId xmlns:a16="http://schemas.microsoft.com/office/drawing/2014/main" id="{A1D30A99-B9D1-4B30-8183-5883007B554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971" y="2478"/>
                    <a:ext cx="0" cy="816"/>
                  </a:xfrm>
                  <a:prstGeom prst="line">
                    <a:avLst/>
                  </a:prstGeom>
                  <a:noFill/>
                  <a:ln w="9525">
                    <a:solidFill>
                      <a:srgbClr val="0000FF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 sz="1260"/>
                  </a:p>
                </p:txBody>
              </p:sp>
              <p:sp>
                <p:nvSpPr>
                  <p:cNvPr id="124" name="Line 46">
                    <a:extLst>
                      <a:ext uri="{FF2B5EF4-FFF2-40B4-BE49-F238E27FC236}">
                        <a16:creationId xmlns:a16="http://schemas.microsoft.com/office/drawing/2014/main" id="{844E2008-7844-41E5-A786-0865E4F5BF3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971" y="3294"/>
                    <a:ext cx="862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FF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 sz="1260"/>
                  </a:p>
                </p:txBody>
              </p:sp>
              <p:sp>
                <p:nvSpPr>
                  <p:cNvPr id="125" name="Line 47">
                    <a:extLst>
                      <a:ext uri="{FF2B5EF4-FFF2-40B4-BE49-F238E27FC236}">
                        <a16:creationId xmlns:a16="http://schemas.microsoft.com/office/drawing/2014/main" id="{351051E9-E47F-4857-BD52-4B74AB67BE7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290" y="3294"/>
                    <a:ext cx="681" cy="544"/>
                  </a:xfrm>
                  <a:prstGeom prst="line">
                    <a:avLst/>
                  </a:prstGeom>
                  <a:noFill/>
                  <a:ln w="9525">
                    <a:solidFill>
                      <a:srgbClr val="0000FF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 sz="1260"/>
                  </a:p>
                </p:txBody>
              </p:sp>
            </p:grpSp>
            <p:sp>
              <p:nvSpPr>
                <p:cNvPr id="120" name="Text Box 48">
                  <a:extLst>
                    <a:ext uri="{FF2B5EF4-FFF2-40B4-BE49-F238E27FC236}">
                      <a16:creationId xmlns:a16="http://schemas.microsoft.com/office/drawing/2014/main" id="{51FB0337-F435-4C79-BABC-2FA59C9984E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72" y="3385"/>
                  <a:ext cx="185" cy="2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/>
                  <a:r>
                    <a:rPr lang="en-GB" altLang="en-US" sz="1260">
                      <a:solidFill>
                        <a:srgbClr val="000000"/>
                      </a:solidFill>
                      <a:cs typeface="Arial" panose="020B0604020202020204" pitchFamily="34" charset="0"/>
                    </a:rPr>
                    <a:t>x</a:t>
                  </a:r>
                  <a:endParaRPr lang="en-US" altLang="en-US" sz="126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1" name="Text Box 49">
                  <a:extLst>
                    <a:ext uri="{FF2B5EF4-FFF2-40B4-BE49-F238E27FC236}">
                      <a16:creationId xmlns:a16="http://schemas.microsoft.com/office/drawing/2014/main" id="{28A24757-8532-45A4-A8E1-F66B271B4F2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24" y="3067"/>
                  <a:ext cx="185" cy="2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/>
                  <a:r>
                    <a:rPr lang="en-GB" altLang="en-US" sz="1260">
                      <a:solidFill>
                        <a:srgbClr val="000000"/>
                      </a:solidFill>
                      <a:cs typeface="Arial" panose="020B0604020202020204" pitchFamily="34" charset="0"/>
                    </a:rPr>
                    <a:t>y</a:t>
                  </a:r>
                  <a:endParaRPr lang="en-US" altLang="en-US" sz="126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2" name="Text Box 50">
                  <a:extLst>
                    <a:ext uri="{FF2B5EF4-FFF2-40B4-BE49-F238E27FC236}">
                      <a16:creationId xmlns:a16="http://schemas.microsoft.com/office/drawing/2014/main" id="{5E6C2BD5-DBD7-46A3-BB4D-D975C44157C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80" y="2205"/>
                  <a:ext cx="185" cy="2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/>
                  <a:r>
                    <a:rPr lang="en-GB" altLang="en-US" sz="1260">
                      <a:solidFill>
                        <a:srgbClr val="000000"/>
                      </a:solidFill>
                      <a:cs typeface="Arial" panose="020B0604020202020204" pitchFamily="34" charset="0"/>
                    </a:rPr>
                    <a:t>z</a:t>
                  </a:r>
                  <a:endParaRPr lang="en-US" altLang="en-US" sz="126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</p:grpSp>
        </p:grpSp>
      </p:grpSp>
      <p:grpSp>
        <p:nvGrpSpPr>
          <p:cNvPr id="126" name="Group 51">
            <a:extLst>
              <a:ext uri="{FF2B5EF4-FFF2-40B4-BE49-F238E27FC236}">
                <a16:creationId xmlns:a16="http://schemas.microsoft.com/office/drawing/2014/main" id="{07EF071A-0B98-472C-9AA8-2E8CF07D269A}"/>
              </a:ext>
            </a:extLst>
          </p:cNvPr>
          <p:cNvGrpSpPr>
            <a:grpSpLocks/>
          </p:cNvGrpSpPr>
          <p:nvPr/>
        </p:nvGrpSpPr>
        <p:grpSpPr bwMode="auto">
          <a:xfrm>
            <a:off x="5057827" y="2255714"/>
            <a:ext cx="1313066" cy="2226874"/>
            <a:chOff x="2200" y="1253"/>
            <a:chExt cx="1230" cy="2086"/>
          </a:xfrm>
        </p:grpSpPr>
        <p:sp>
          <p:nvSpPr>
            <p:cNvPr id="127" name="Line 52">
              <a:extLst>
                <a:ext uri="{FF2B5EF4-FFF2-40B4-BE49-F238E27FC236}">
                  <a16:creationId xmlns:a16="http://schemas.microsoft.com/office/drawing/2014/main" id="{99756226-3BF6-4F2B-BDA9-16AAABC2E6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99" y="1525"/>
              <a:ext cx="0" cy="1814"/>
            </a:xfrm>
            <a:prstGeom prst="line">
              <a:avLst/>
            </a:prstGeom>
            <a:noFill/>
            <a:ln w="9525">
              <a:solidFill>
                <a:srgbClr val="3399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 sz="126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Object 3">
                  <a:extLst>
                    <a:ext uri="{FF2B5EF4-FFF2-40B4-BE49-F238E27FC236}">
                      <a16:creationId xmlns:a16="http://schemas.microsoft.com/office/drawing/2014/main" id="{8C587A4F-D2B3-49CB-A2F1-9260CA62F840}"/>
                    </a:ext>
                  </a:extLst>
                </p:cNvPr>
                <p:cNvSpPr txBox="1"/>
                <p:nvPr/>
              </p:nvSpPr>
              <p:spPr bwMode="auto">
                <a:xfrm>
                  <a:off x="2200" y="1253"/>
                  <a:ext cx="1230" cy="32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26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GB" sz="126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sz="126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acc>
                          </m:e>
                          <m:sub>
                            <m:r>
                              <a:rPr lang="en-GB" sz="126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en-GB" sz="126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sz="126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GB" sz="126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sz="126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acc>
                          </m:e>
                          <m:sub>
                            <m:r>
                              <a:rPr lang="en-GB" sz="126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1260" i="1">
                            <a:latin typeface="Cambria Math" panose="02040503050406030204" pitchFamily="18" charset="0"/>
                          </a:rPr>
                          <m:t>−2</m:t>
                        </m:r>
                        <m:d>
                          <m:dPr>
                            <m:ctrlPr>
                              <a:rPr lang="en-GB" sz="126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126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GB" sz="126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126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GB" sz="126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GB" sz="1260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acc>
                              <m:accPr>
                                <m:chr m:val="⃗"/>
                                <m:ctrlPr>
                                  <a:rPr lang="en-GB" sz="126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sz="126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acc>
                          </m:e>
                        </m:d>
                        <m:acc>
                          <m:accPr>
                            <m:chr m:val="⃗"/>
                            <m:ctrlPr>
                              <a:rPr lang="en-GB" sz="126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126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oMath>
                    </m:oMathPara>
                  </a14:m>
                  <a:endParaRPr lang="en-GB" sz="1260"/>
                </a:p>
              </p:txBody>
            </p:sp>
          </mc:Choice>
          <mc:Fallback xmlns="">
            <p:sp>
              <p:nvSpPr>
                <p:cNvPr id="128" name="Object 3">
                  <a:extLst>
                    <a:ext uri="{FF2B5EF4-FFF2-40B4-BE49-F238E27FC236}">
                      <a16:creationId xmlns:a16="http://schemas.microsoft.com/office/drawing/2014/main" id="{8C587A4F-D2B3-49CB-A2F1-9260CA62F8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00" y="1253"/>
                  <a:ext cx="1230" cy="32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FC2BE97D-8D16-4723-BA4F-1A29BB673367}"/>
              </a:ext>
            </a:extLst>
          </p:cNvPr>
          <p:cNvGrpSpPr/>
          <p:nvPr/>
        </p:nvGrpSpPr>
        <p:grpSpPr>
          <a:xfrm>
            <a:off x="3024177" y="1784932"/>
            <a:ext cx="2226873" cy="1745417"/>
            <a:chOff x="3024177" y="1784932"/>
            <a:chExt cx="2226873" cy="1745417"/>
          </a:xfrm>
        </p:grpSpPr>
        <p:sp>
          <p:nvSpPr>
            <p:cNvPr id="113" name="Text Box 38">
              <a:extLst>
                <a:ext uri="{FF2B5EF4-FFF2-40B4-BE49-F238E27FC236}">
                  <a16:creationId xmlns:a16="http://schemas.microsoft.com/office/drawing/2014/main" id="{5186E2C5-401B-409D-AC5E-82455529E8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8027" y="1784932"/>
              <a:ext cx="197865" cy="2138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GB" altLang="en-US" sz="1260">
                  <a:solidFill>
                    <a:srgbClr val="000000"/>
                  </a:solidFill>
                  <a:cs typeface="Arial" panose="020B0604020202020204" pitchFamily="34" charset="0"/>
                </a:rPr>
                <a:t>z</a:t>
              </a:r>
              <a:endParaRPr lang="en-US" altLang="en-US" sz="126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14" name="Text Box 39">
              <a:extLst>
                <a:ext uri="{FF2B5EF4-FFF2-40B4-BE49-F238E27FC236}">
                  <a16:creationId xmlns:a16="http://schemas.microsoft.com/office/drawing/2014/main" id="{74EF1062-A29F-4AA3-88FC-FDEDE7F405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177" y="2643228"/>
              <a:ext cx="197865" cy="2138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GB" altLang="en-US" sz="1260">
                  <a:solidFill>
                    <a:srgbClr val="000000"/>
                  </a:solidFill>
                  <a:cs typeface="Arial" panose="020B0604020202020204" pitchFamily="34" charset="0"/>
                </a:rPr>
                <a:t>x</a:t>
              </a:r>
              <a:endParaRPr lang="en-US" altLang="en-US" sz="126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279A8193-8AAA-4450-B57B-F7C078F86810}"/>
                </a:ext>
              </a:extLst>
            </p:cNvPr>
            <p:cNvGrpSpPr/>
            <p:nvPr/>
          </p:nvGrpSpPr>
          <p:grpSpPr>
            <a:xfrm>
              <a:off x="3144808" y="1965345"/>
              <a:ext cx="2106242" cy="1565004"/>
              <a:chOff x="3144808" y="1965345"/>
              <a:chExt cx="2106242" cy="1565004"/>
            </a:xfrm>
          </p:grpSpPr>
          <p:sp>
            <p:nvSpPr>
              <p:cNvPr id="78" name="Freeform 2">
                <a:extLst>
                  <a:ext uri="{FF2B5EF4-FFF2-40B4-BE49-F238E27FC236}">
                    <a16:creationId xmlns:a16="http://schemas.microsoft.com/office/drawing/2014/main" id="{FCC9A011-E381-431B-8DFD-4B9EA633BD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808" y="1981358"/>
                <a:ext cx="1300255" cy="1548991"/>
              </a:xfrm>
              <a:custGeom>
                <a:avLst/>
                <a:gdLst>
                  <a:gd name="T0" fmla="*/ 171370606 w 1218"/>
                  <a:gd name="T1" fmla="*/ 2132052727 h 1451"/>
                  <a:gd name="T2" fmla="*/ 856853178 w 1218"/>
                  <a:gd name="T3" fmla="*/ 990422479 h 1451"/>
                  <a:gd name="T4" fmla="*/ 970259370 w 1218"/>
                  <a:gd name="T5" fmla="*/ 761087295 h 1451"/>
                  <a:gd name="T6" fmla="*/ 1885076913 w 1218"/>
                  <a:gd name="T7" fmla="*/ 531753897 h 1451"/>
                  <a:gd name="T8" fmla="*/ 2001004054 w 1218"/>
                  <a:gd name="T9" fmla="*/ 75604703 h 1451"/>
                  <a:gd name="T10" fmla="*/ 2147483647 w 1218"/>
                  <a:gd name="T11" fmla="*/ 75604703 h 1451"/>
                  <a:gd name="T12" fmla="*/ 2147483647 w 1218"/>
                  <a:gd name="T13" fmla="*/ 418346086 h 1451"/>
                  <a:gd name="T14" fmla="*/ 2147483647 w 1218"/>
                  <a:gd name="T15" fmla="*/ 877014667 h 1451"/>
                  <a:gd name="T16" fmla="*/ 2147483647 w 1218"/>
                  <a:gd name="T17" fmla="*/ 1562497085 h 1451"/>
                  <a:gd name="T18" fmla="*/ 1885076913 w 1218"/>
                  <a:gd name="T19" fmla="*/ 2132052727 h 1451"/>
                  <a:gd name="T20" fmla="*/ 1199594291 w 1218"/>
                  <a:gd name="T21" fmla="*/ 2147483647 h 1451"/>
                  <a:gd name="T22" fmla="*/ 171370606 w 1218"/>
                  <a:gd name="T23" fmla="*/ 2147483647 h 1451"/>
                  <a:gd name="T24" fmla="*/ 171370606 w 1218"/>
                  <a:gd name="T25" fmla="*/ 2147483647 h 1451"/>
                  <a:gd name="T26" fmla="*/ 57962802 w 1218"/>
                  <a:gd name="T27" fmla="*/ 2147483647 h 1451"/>
                  <a:gd name="T28" fmla="*/ 171370606 w 1218"/>
                  <a:gd name="T29" fmla="*/ 2132052727 h 145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218"/>
                  <a:gd name="T46" fmla="*/ 0 h 1451"/>
                  <a:gd name="T47" fmla="*/ 1218 w 1218"/>
                  <a:gd name="T48" fmla="*/ 1451 h 1451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218" h="1451">
                    <a:moveTo>
                      <a:pt x="68" y="846"/>
                    </a:moveTo>
                    <a:cubicBezTo>
                      <a:pt x="121" y="763"/>
                      <a:pt x="287" y="484"/>
                      <a:pt x="340" y="393"/>
                    </a:cubicBezTo>
                    <a:cubicBezTo>
                      <a:pt x="393" y="302"/>
                      <a:pt x="317" y="332"/>
                      <a:pt x="385" y="302"/>
                    </a:cubicBezTo>
                    <a:cubicBezTo>
                      <a:pt x="453" y="272"/>
                      <a:pt x="680" y="256"/>
                      <a:pt x="748" y="211"/>
                    </a:cubicBezTo>
                    <a:cubicBezTo>
                      <a:pt x="816" y="166"/>
                      <a:pt x="726" y="60"/>
                      <a:pt x="794" y="30"/>
                    </a:cubicBezTo>
                    <a:cubicBezTo>
                      <a:pt x="862" y="0"/>
                      <a:pt x="1096" y="7"/>
                      <a:pt x="1157" y="30"/>
                    </a:cubicBezTo>
                    <a:cubicBezTo>
                      <a:pt x="1218" y="53"/>
                      <a:pt x="1172" y="113"/>
                      <a:pt x="1157" y="166"/>
                    </a:cubicBezTo>
                    <a:cubicBezTo>
                      <a:pt x="1142" y="219"/>
                      <a:pt x="1104" y="273"/>
                      <a:pt x="1066" y="348"/>
                    </a:cubicBezTo>
                    <a:cubicBezTo>
                      <a:pt x="1028" y="423"/>
                      <a:pt x="983" y="537"/>
                      <a:pt x="930" y="620"/>
                    </a:cubicBezTo>
                    <a:cubicBezTo>
                      <a:pt x="877" y="703"/>
                      <a:pt x="824" y="748"/>
                      <a:pt x="748" y="846"/>
                    </a:cubicBezTo>
                    <a:cubicBezTo>
                      <a:pt x="672" y="944"/>
                      <a:pt x="589" y="1111"/>
                      <a:pt x="476" y="1209"/>
                    </a:cubicBezTo>
                    <a:cubicBezTo>
                      <a:pt x="363" y="1307"/>
                      <a:pt x="136" y="1451"/>
                      <a:pt x="68" y="1436"/>
                    </a:cubicBezTo>
                    <a:cubicBezTo>
                      <a:pt x="0" y="1421"/>
                      <a:pt x="76" y="1210"/>
                      <a:pt x="68" y="1119"/>
                    </a:cubicBezTo>
                    <a:cubicBezTo>
                      <a:pt x="60" y="1028"/>
                      <a:pt x="23" y="937"/>
                      <a:pt x="23" y="892"/>
                    </a:cubicBezTo>
                    <a:cubicBezTo>
                      <a:pt x="23" y="847"/>
                      <a:pt x="15" y="929"/>
                      <a:pt x="68" y="846"/>
                    </a:cubicBezTo>
                    <a:close/>
                  </a:path>
                </a:pathLst>
              </a:custGeom>
              <a:solidFill>
                <a:schemeClr val="accent1">
                  <a:alpha val="49019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 sz="1260"/>
              </a:p>
            </p:txBody>
          </p:sp>
          <p:grpSp>
            <p:nvGrpSpPr>
              <p:cNvPr id="79" name="Group 4">
                <a:extLst>
                  <a:ext uri="{FF2B5EF4-FFF2-40B4-BE49-F238E27FC236}">
                    <a16:creationId xmlns:a16="http://schemas.microsoft.com/office/drawing/2014/main" id="{344ECA31-6DCF-479E-B559-592FDBEAE6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9361" y="1965345"/>
                <a:ext cx="1161476" cy="1210583"/>
                <a:chOff x="431" y="981"/>
                <a:chExt cx="1088" cy="1134"/>
              </a:xfrm>
            </p:grpSpPr>
            <p:sp>
              <p:nvSpPr>
                <p:cNvPr id="80" name="Line 5">
                  <a:extLst>
                    <a:ext uri="{FF2B5EF4-FFF2-40B4-BE49-F238E27FC236}">
                      <a16:creationId xmlns:a16="http://schemas.microsoft.com/office/drawing/2014/main" id="{008009FF-C414-47DA-BA61-66983D68A9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84" y="981"/>
                  <a:ext cx="635" cy="816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260"/>
                </a:p>
              </p:txBody>
            </p:sp>
            <p:sp>
              <p:nvSpPr>
                <p:cNvPr id="81" name="Line 6">
                  <a:extLst>
                    <a:ext uri="{FF2B5EF4-FFF2-40B4-BE49-F238E27FC236}">
                      <a16:creationId xmlns:a16="http://schemas.microsoft.com/office/drawing/2014/main" id="{A49F8560-75E1-4238-8588-E26D4FEEDA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84" y="1797"/>
                  <a:ext cx="454" cy="318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260"/>
                </a:p>
              </p:txBody>
            </p:sp>
            <p:sp>
              <p:nvSpPr>
                <p:cNvPr id="82" name="Line 7">
                  <a:extLst>
                    <a:ext uri="{FF2B5EF4-FFF2-40B4-BE49-F238E27FC236}">
                      <a16:creationId xmlns:a16="http://schemas.microsoft.com/office/drawing/2014/main" id="{DCD14EEB-E4F1-454A-B52C-97F98BE898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31" y="1797"/>
                  <a:ext cx="453" cy="45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260"/>
                </a:p>
              </p:txBody>
            </p:sp>
          </p:grpSp>
          <p:sp>
            <p:nvSpPr>
              <p:cNvPr id="83" name="Text Box 8">
                <a:extLst>
                  <a:ext uri="{FF2B5EF4-FFF2-40B4-BE49-F238E27FC236}">
                    <a16:creationId xmlns:a16="http://schemas.microsoft.com/office/drawing/2014/main" id="{56B3DB8B-5BAA-423D-AE8E-DFE9A353D1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92429" y="2448937"/>
                <a:ext cx="138027" cy="2138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altLang="en-US" sz="126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grpSp>
            <p:nvGrpSpPr>
              <p:cNvPr id="129" name="Group 54">
                <a:extLst>
                  <a:ext uri="{FF2B5EF4-FFF2-40B4-BE49-F238E27FC236}">
                    <a16:creationId xmlns:a16="http://schemas.microsoft.com/office/drawing/2014/main" id="{863A42BB-DBAC-4A01-8552-F1AEF5053D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62584" y="2303753"/>
                <a:ext cx="1888466" cy="968253"/>
                <a:chOff x="612" y="1298"/>
                <a:chExt cx="1769" cy="907"/>
              </a:xfrm>
            </p:grpSpPr>
            <p:sp>
              <p:nvSpPr>
                <p:cNvPr id="130" name="Line 55">
                  <a:extLst>
                    <a:ext uri="{FF2B5EF4-FFF2-40B4-BE49-F238E27FC236}">
                      <a16:creationId xmlns:a16="http://schemas.microsoft.com/office/drawing/2014/main" id="{7051003A-E18F-4B32-92E4-831649F197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84" y="1888"/>
                  <a:ext cx="408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260"/>
                </a:p>
              </p:txBody>
            </p:sp>
            <p:sp>
              <p:nvSpPr>
                <p:cNvPr id="131" name="Line 56">
                  <a:extLst>
                    <a:ext uri="{FF2B5EF4-FFF2-40B4-BE49-F238E27FC236}">
                      <a16:creationId xmlns:a16="http://schemas.microsoft.com/office/drawing/2014/main" id="{1182A449-153C-4E33-8DF2-F4E59D5B59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12" y="2069"/>
                  <a:ext cx="454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260"/>
                </a:p>
              </p:txBody>
            </p:sp>
            <p:grpSp>
              <p:nvGrpSpPr>
                <p:cNvPr id="132" name="Group 57">
                  <a:extLst>
                    <a:ext uri="{FF2B5EF4-FFF2-40B4-BE49-F238E27FC236}">
                      <a16:creationId xmlns:a16="http://schemas.microsoft.com/office/drawing/2014/main" id="{1985972C-3520-43B5-A64B-41239832F96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156" y="1298"/>
                  <a:ext cx="1225" cy="635"/>
                  <a:chOff x="1156" y="1298"/>
                  <a:chExt cx="1225" cy="635"/>
                </a:xfrm>
              </p:grpSpPr>
              <p:grpSp>
                <p:nvGrpSpPr>
                  <p:cNvPr id="133" name="Group 58">
                    <a:extLst>
                      <a:ext uri="{FF2B5EF4-FFF2-40B4-BE49-F238E27FC236}">
                        <a16:creationId xmlns:a16="http://schemas.microsoft.com/office/drawing/2014/main" id="{A13B16B1-AB09-4746-84F9-97EFADF27A2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156" y="1298"/>
                    <a:ext cx="770" cy="635"/>
                    <a:chOff x="1156" y="1298"/>
                    <a:chExt cx="770" cy="635"/>
                  </a:xfrm>
                </p:grpSpPr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35" name="Object 2">
                          <a:extLst>
                            <a:ext uri="{FF2B5EF4-FFF2-40B4-BE49-F238E27FC236}">
                              <a16:creationId xmlns:a16="http://schemas.microsoft.com/office/drawing/2014/main" id="{B29838A9-C7B1-4DFE-81F3-CA275EBCB608}"/>
                            </a:ext>
                          </a:extLst>
                        </p:cNvPr>
                        <p:cNvSpPr txBox="1"/>
                        <p:nvPr/>
                      </p:nvSpPr>
                      <p:spPr bwMode="auto">
                        <a:xfrm>
                          <a:off x="1292" y="1298"/>
                          <a:ext cx="634" cy="2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normAutofit fontScale="32500" lnSpcReduction="20000"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26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GB" sz="126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GB" sz="126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GB" sz="126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GB" sz="1260" i="1">
                                    <a:latin typeface="Cambria Math" panose="02040503050406030204" pitchFamily="18" charset="0"/>
                                  </a:rPr>
                                  <m:t>=(</m:t>
                                </m:r>
                                <m:sSub>
                                  <m:sSubPr>
                                    <m:ctrlPr>
                                      <a:rPr lang="en-GB" sz="126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26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sz="126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GB" sz="126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GB" sz="126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26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GB" sz="126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GB" sz="1260" i="1">
                                    <a:latin typeface="Cambria Math" panose="02040503050406030204" pitchFamily="18" charset="0"/>
                                  </a:rPr>
                                  <m:t>,0)</m:t>
                                </m:r>
                              </m:oMath>
                              <m:oMath xmlns:m="http://schemas.openxmlformats.org/officeDocument/2006/math">
                                <m:acc>
                                  <m:accPr>
                                    <m:chr m:val="⃗"/>
                                    <m:ctrlPr>
                                      <a:rPr lang="en-GB" sz="126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126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</m:acc>
                                <m:r>
                                  <a:rPr lang="en-GB" sz="1260" i="1">
                                    <a:latin typeface="Cambria Math" panose="02040503050406030204" pitchFamily="18" charset="0"/>
                                  </a:rPr>
                                  <m:t>=(</m:t>
                                </m:r>
                                <m:sSub>
                                  <m:sSubPr>
                                    <m:ctrlPr>
                                      <a:rPr lang="en-GB" sz="126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26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GB" sz="126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GB" sz="126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GB" sz="126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26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GB" sz="126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GB" sz="1260" i="1">
                                    <a:latin typeface="Cambria Math" panose="02040503050406030204" pitchFamily="18" charset="0"/>
                                  </a:rPr>
                                  <m:t>≈1</m:t>
                                </m:r>
                                <m:r>
                                  <a:rPr lang="en-US" sz="126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GB" sz="126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26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126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lang="en-GB" sz="126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sz="1260" dirty="0"/>
                        </a:p>
                      </p:txBody>
                    </p:sp>
                  </mc:Choice>
                  <mc:Fallback xmlns="">
                    <p:sp>
                      <p:nvSpPr>
                        <p:cNvPr id="135" name="Object 2">
                          <a:extLst>
                            <a:ext uri="{FF2B5EF4-FFF2-40B4-BE49-F238E27FC236}">
                              <a16:creationId xmlns:a16="http://schemas.microsoft.com/office/drawing/2014/main" id="{B29838A9-C7B1-4DFE-81F3-CA275EBCB608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 bwMode="auto">
                        <a:xfrm>
                          <a:off x="1292" y="1298"/>
                          <a:ext cx="634" cy="231"/>
                        </a:xfrm>
                        <a:prstGeom prst="rect">
                          <a:avLst/>
                        </a:prstGeom>
                        <a:blipFill>
                          <a:blip r:embed="rId13"/>
                          <a:stretch>
                            <a:fillRect/>
                          </a:stretch>
                        </a:blipFill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r>
                            <a:rPr lang="en-GB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136" name="Line 60">
                      <a:extLst>
                        <a:ext uri="{FF2B5EF4-FFF2-40B4-BE49-F238E27FC236}">
                          <a16:creationId xmlns:a16="http://schemas.microsoft.com/office/drawing/2014/main" id="{47FBC646-4B9C-449D-A99C-13351645A93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156" y="1570"/>
                      <a:ext cx="318" cy="36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GB" sz="1260"/>
                    </a:p>
                  </p:txBody>
                </p:sp>
              </p:grpSp>
              <p:sp>
                <p:nvSpPr>
                  <p:cNvPr id="134" name="Text Box 61">
                    <a:extLst>
                      <a:ext uri="{FF2B5EF4-FFF2-40B4-BE49-F238E27FC236}">
                        <a16:creationId xmlns:a16="http://schemas.microsoft.com/office/drawing/2014/main" id="{052B6A44-9839-42F2-BDC4-B796A039E4C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47" y="1570"/>
                    <a:ext cx="1134" cy="18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defTabSz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defTabSz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defTabSz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defTabSz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GB" altLang="en-US" sz="1080" dirty="0">
                        <a:solidFill>
                          <a:srgbClr val="000000"/>
                        </a:solidFill>
                        <a:cs typeface="Arial" panose="020B0604020202020204" pitchFamily="34" charset="0"/>
                      </a:rPr>
                      <a:t>Energy, Intensity</a:t>
                    </a:r>
                    <a:endParaRPr lang="en-US" altLang="en-US" sz="1080" dirty="0">
                      <a:solidFill>
                        <a:srgbClr val="000000"/>
                      </a:solidFill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E7364534-3BAE-43B9-B859-E5A5719DC566}"/>
              </a:ext>
            </a:extLst>
          </p:cNvPr>
          <p:cNvGrpSpPr/>
          <p:nvPr/>
        </p:nvGrpSpPr>
        <p:grpSpPr>
          <a:xfrm>
            <a:off x="5590526" y="2546084"/>
            <a:ext cx="3235805" cy="1936504"/>
            <a:chOff x="5590526" y="2546084"/>
            <a:chExt cx="3235805" cy="1936504"/>
          </a:xfrm>
        </p:grpSpPr>
        <p:grpSp>
          <p:nvGrpSpPr>
            <p:cNvPr id="100" name="Group 25">
              <a:extLst>
                <a:ext uri="{FF2B5EF4-FFF2-40B4-BE49-F238E27FC236}">
                  <a16:creationId xmlns:a16="http://schemas.microsoft.com/office/drawing/2014/main" id="{9EE4A010-53BD-483C-9BCC-F307B89ED8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80897" y="2546084"/>
              <a:ext cx="2133999" cy="1888465"/>
              <a:chOff x="2971" y="1525"/>
              <a:chExt cx="1999" cy="1769"/>
            </a:xfrm>
          </p:grpSpPr>
          <p:grpSp>
            <p:nvGrpSpPr>
              <p:cNvPr id="101" name="Group 26">
                <a:extLst>
                  <a:ext uri="{FF2B5EF4-FFF2-40B4-BE49-F238E27FC236}">
                    <a16:creationId xmlns:a16="http://schemas.microsoft.com/office/drawing/2014/main" id="{630171A2-3037-4C63-AF20-47EBCF016D8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1" y="1525"/>
                <a:ext cx="1999" cy="1769"/>
                <a:chOff x="2971" y="1525"/>
                <a:chExt cx="1999" cy="1769"/>
              </a:xfrm>
            </p:grpSpPr>
            <p:sp>
              <p:nvSpPr>
                <p:cNvPr id="107" name="Freeform 27">
                  <a:extLst>
                    <a:ext uri="{FF2B5EF4-FFF2-40B4-BE49-F238E27FC236}">
                      <a16:creationId xmlns:a16="http://schemas.microsoft.com/office/drawing/2014/main" id="{78ECAD30-6B1E-442D-A5E3-2B0003EC02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969" y="1752"/>
                  <a:ext cx="544" cy="862"/>
                </a:xfrm>
                <a:custGeom>
                  <a:avLst/>
                  <a:gdLst>
                    <a:gd name="T0" fmla="*/ 13 w 1218"/>
                    <a:gd name="T1" fmla="*/ 299 h 1451"/>
                    <a:gd name="T2" fmla="*/ 68 w 1218"/>
                    <a:gd name="T3" fmla="*/ 138 h 1451"/>
                    <a:gd name="T4" fmla="*/ 77 w 1218"/>
                    <a:gd name="T5" fmla="*/ 106 h 1451"/>
                    <a:gd name="T6" fmla="*/ 149 w 1218"/>
                    <a:gd name="T7" fmla="*/ 74 h 1451"/>
                    <a:gd name="T8" fmla="*/ 159 w 1218"/>
                    <a:gd name="T9" fmla="*/ 11 h 1451"/>
                    <a:gd name="T10" fmla="*/ 231 w 1218"/>
                    <a:gd name="T11" fmla="*/ 11 h 1451"/>
                    <a:gd name="T12" fmla="*/ 231 w 1218"/>
                    <a:gd name="T13" fmla="*/ 59 h 1451"/>
                    <a:gd name="T14" fmla="*/ 213 w 1218"/>
                    <a:gd name="T15" fmla="*/ 123 h 1451"/>
                    <a:gd name="T16" fmla="*/ 185 w 1218"/>
                    <a:gd name="T17" fmla="*/ 219 h 1451"/>
                    <a:gd name="T18" fmla="*/ 149 w 1218"/>
                    <a:gd name="T19" fmla="*/ 299 h 1451"/>
                    <a:gd name="T20" fmla="*/ 95 w 1218"/>
                    <a:gd name="T21" fmla="*/ 427 h 1451"/>
                    <a:gd name="T22" fmla="*/ 13 w 1218"/>
                    <a:gd name="T23" fmla="*/ 507 h 1451"/>
                    <a:gd name="T24" fmla="*/ 13 w 1218"/>
                    <a:gd name="T25" fmla="*/ 395 h 1451"/>
                    <a:gd name="T26" fmla="*/ 4 w 1218"/>
                    <a:gd name="T27" fmla="*/ 315 h 1451"/>
                    <a:gd name="T28" fmla="*/ 13 w 1218"/>
                    <a:gd name="T29" fmla="*/ 299 h 1451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218"/>
                    <a:gd name="T46" fmla="*/ 0 h 1451"/>
                    <a:gd name="T47" fmla="*/ 1218 w 1218"/>
                    <a:gd name="T48" fmla="*/ 1451 h 1451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218" h="1451">
                      <a:moveTo>
                        <a:pt x="68" y="846"/>
                      </a:moveTo>
                      <a:cubicBezTo>
                        <a:pt x="121" y="763"/>
                        <a:pt x="287" y="484"/>
                        <a:pt x="340" y="393"/>
                      </a:cubicBezTo>
                      <a:cubicBezTo>
                        <a:pt x="393" y="302"/>
                        <a:pt x="317" y="332"/>
                        <a:pt x="385" y="302"/>
                      </a:cubicBezTo>
                      <a:cubicBezTo>
                        <a:pt x="453" y="272"/>
                        <a:pt x="680" y="256"/>
                        <a:pt x="748" y="211"/>
                      </a:cubicBezTo>
                      <a:cubicBezTo>
                        <a:pt x="816" y="166"/>
                        <a:pt x="726" y="60"/>
                        <a:pt x="794" y="30"/>
                      </a:cubicBezTo>
                      <a:cubicBezTo>
                        <a:pt x="862" y="0"/>
                        <a:pt x="1096" y="7"/>
                        <a:pt x="1157" y="30"/>
                      </a:cubicBezTo>
                      <a:cubicBezTo>
                        <a:pt x="1218" y="53"/>
                        <a:pt x="1172" y="113"/>
                        <a:pt x="1157" y="166"/>
                      </a:cubicBezTo>
                      <a:cubicBezTo>
                        <a:pt x="1142" y="219"/>
                        <a:pt x="1104" y="273"/>
                        <a:pt x="1066" y="348"/>
                      </a:cubicBezTo>
                      <a:cubicBezTo>
                        <a:pt x="1028" y="423"/>
                        <a:pt x="983" y="537"/>
                        <a:pt x="930" y="620"/>
                      </a:cubicBezTo>
                      <a:cubicBezTo>
                        <a:pt x="877" y="703"/>
                        <a:pt x="824" y="748"/>
                        <a:pt x="748" y="846"/>
                      </a:cubicBezTo>
                      <a:cubicBezTo>
                        <a:pt x="672" y="944"/>
                        <a:pt x="589" y="1111"/>
                        <a:pt x="476" y="1209"/>
                      </a:cubicBezTo>
                      <a:cubicBezTo>
                        <a:pt x="363" y="1307"/>
                        <a:pt x="136" y="1451"/>
                        <a:pt x="68" y="1436"/>
                      </a:cubicBezTo>
                      <a:cubicBezTo>
                        <a:pt x="0" y="1421"/>
                        <a:pt x="76" y="1210"/>
                        <a:pt x="68" y="1119"/>
                      </a:cubicBezTo>
                      <a:cubicBezTo>
                        <a:pt x="60" y="1028"/>
                        <a:pt x="23" y="937"/>
                        <a:pt x="23" y="892"/>
                      </a:cubicBezTo>
                      <a:cubicBezTo>
                        <a:pt x="23" y="847"/>
                        <a:pt x="15" y="929"/>
                        <a:pt x="68" y="846"/>
                      </a:cubicBezTo>
                      <a:close/>
                    </a:path>
                  </a:pathLst>
                </a:custGeom>
                <a:solidFill>
                  <a:schemeClr val="accent1">
                    <a:alpha val="49019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 sz="1260"/>
                </a:p>
              </p:txBody>
            </p:sp>
            <p:sp>
              <p:nvSpPr>
                <p:cNvPr id="108" name="Line 28">
                  <a:extLst>
                    <a:ext uri="{FF2B5EF4-FFF2-40B4-BE49-F238E27FC236}">
                      <a16:creationId xmlns:a16="http://schemas.microsoft.com/office/drawing/2014/main" id="{4E42566D-22FE-4DE4-8B19-83EFFD311C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971" y="1888"/>
                  <a:ext cx="1814" cy="140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260"/>
                </a:p>
              </p:txBody>
            </p:sp>
            <p:sp>
              <p:nvSpPr>
                <p:cNvPr id="109" name="Text Box 29">
                  <a:extLst>
                    <a:ext uri="{FF2B5EF4-FFF2-40B4-BE49-F238E27FC236}">
                      <a16:creationId xmlns:a16="http://schemas.microsoft.com/office/drawing/2014/main" id="{4A6D3CC3-8B6A-4328-A404-5BCB363F6F6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785" y="1525"/>
                  <a:ext cx="185" cy="2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/>
                  <a:r>
                    <a:rPr lang="en-GB" altLang="en-US" sz="1260">
                      <a:solidFill>
                        <a:srgbClr val="000000"/>
                      </a:solidFill>
                      <a:cs typeface="Arial" panose="020B0604020202020204" pitchFamily="34" charset="0"/>
                    </a:rPr>
                    <a:t>y</a:t>
                  </a:r>
                  <a:endParaRPr lang="en-US" altLang="en-US" sz="126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0" name="Text Box 30">
                  <a:extLst>
                    <a:ext uri="{FF2B5EF4-FFF2-40B4-BE49-F238E27FC236}">
                      <a16:creationId xmlns:a16="http://schemas.microsoft.com/office/drawing/2014/main" id="{A25CBEE3-D84D-4EC9-AED7-10A8C0AF381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78" y="1661"/>
                  <a:ext cx="185" cy="2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/>
                  <a:r>
                    <a:rPr lang="en-GB" altLang="en-US" sz="1260">
                      <a:solidFill>
                        <a:srgbClr val="000000"/>
                      </a:solidFill>
                      <a:cs typeface="Arial" panose="020B0604020202020204" pitchFamily="34" charset="0"/>
                    </a:rPr>
                    <a:t>z</a:t>
                  </a:r>
                  <a:endParaRPr lang="en-US" altLang="en-US" sz="126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1" name="Text Box 31">
                  <a:extLst>
                    <a:ext uri="{FF2B5EF4-FFF2-40B4-BE49-F238E27FC236}">
                      <a16:creationId xmlns:a16="http://schemas.microsoft.com/office/drawing/2014/main" id="{E19CF9E0-CFB0-483C-854D-6AC65AD6BD9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50" y="2568"/>
                  <a:ext cx="185" cy="2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/>
                  <a:r>
                    <a:rPr lang="en-GB" altLang="en-US" sz="1260">
                      <a:solidFill>
                        <a:srgbClr val="000000"/>
                      </a:solidFill>
                      <a:cs typeface="Arial" panose="020B0604020202020204" pitchFamily="34" charset="0"/>
                    </a:rPr>
                    <a:t>x</a:t>
                  </a:r>
                  <a:endParaRPr lang="en-US" altLang="en-US" sz="126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02" name="Group 32">
                <a:extLst>
                  <a:ext uri="{FF2B5EF4-FFF2-40B4-BE49-F238E27FC236}">
                    <a16:creationId xmlns:a16="http://schemas.microsoft.com/office/drawing/2014/main" id="{89FCDE61-11CD-42A1-97DF-1FDCF5DDE5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75" y="1642"/>
                <a:ext cx="1172" cy="1139"/>
                <a:chOff x="3775" y="1642"/>
                <a:chExt cx="1172" cy="1139"/>
              </a:xfrm>
            </p:grpSpPr>
            <p:sp>
              <p:nvSpPr>
                <p:cNvPr id="103" name="Line 33">
                  <a:extLst>
                    <a:ext uri="{FF2B5EF4-FFF2-40B4-BE49-F238E27FC236}">
                      <a16:creationId xmlns:a16="http://schemas.microsoft.com/office/drawing/2014/main" id="{C7C57C62-3CB7-4D9A-9917-59EFA155DF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900000" flipV="1">
                  <a:off x="4435" y="1642"/>
                  <a:ext cx="512" cy="653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260"/>
                </a:p>
              </p:txBody>
            </p:sp>
            <p:sp>
              <p:nvSpPr>
                <p:cNvPr id="104" name="Line 34">
                  <a:extLst>
                    <a:ext uri="{FF2B5EF4-FFF2-40B4-BE49-F238E27FC236}">
                      <a16:creationId xmlns:a16="http://schemas.microsoft.com/office/drawing/2014/main" id="{23261BBB-8D10-4594-930F-4147B7ABD7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900000" flipH="1">
                  <a:off x="4232" y="2200"/>
                  <a:ext cx="66" cy="477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260"/>
                </a:p>
              </p:txBody>
            </p:sp>
            <p:sp>
              <p:nvSpPr>
                <p:cNvPr id="105" name="Line 35">
                  <a:extLst>
                    <a:ext uri="{FF2B5EF4-FFF2-40B4-BE49-F238E27FC236}">
                      <a16:creationId xmlns:a16="http://schemas.microsoft.com/office/drawing/2014/main" id="{1C68EA50-DD15-4FAE-992F-7436E77B27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900000" flipH="1" flipV="1">
                  <a:off x="4047" y="1951"/>
                  <a:ext cx="348" cy="225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260"/>
                </a:p>
              </p:txBody>
            </p:sp>
            <p:sp>
              <p:nvSpPr>
                <p:cNvPr id="106" name="Text Box 36">
                  <a:extLst>
                    <a:ext uri="{FF2B5EF4-FFF2-40B4-BE49-F238E27FC236}">
                      <a16:creationId xmlns:a16="http://schemas.microsoft.com/office/drawing/2014/main" id="{631288F6-94D1-4E18-AF26-285BA31A3AA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75" y="2581"/>
                  <a:ext cx="192" cy="2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/>
                  <a:r>
                    <a:rPr lang="en-GB" altLang="en-US" sz="1260">
                      <a:solidFill>
                        <a:srgbClr val="000000"/>
                      </a:solidFill>
                      <a:cs typeface="Arial" panose="020B0604020202020204" pitchFamily="34" charset="0"/>
                    </a:rPr>
                    <a:t>q</a:t>
                  </a:r>
                  <a:endParaRPr lang="en-US" altLang="en-US" sz="126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12" name="Line 37">
              <a:extLst>
                <a:ext uri="{FF2B5EF4-FFF2-40B4-BE49-F238E27FC236}">
                  <a16:creationId xmlns:a16="http://schemas.microsoft.com/office/drawing/2014/main" id="{E0362BE4-EF5C-4BD0-8996-04B07B0730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90526" y="3030743"/>
              <a:ext cx="1451845" cy="1451845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 sz="1260"/>
            </a:p>
          </p:txBody>
        </p:sp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AD6F3869-8820-4AE7-9BD2-5DBE044A4B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885091" y="3030743"/>
              <a:ext cx="941240" cy="844205"/>
            </a:xfrm>
            <a:prstGeom prst="rect">
              <a:avLst/>
            </a:prstGeom>
          </p:spPr>
        </p:pic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CF171043-1E41-42FA-B896-9F5AA281BC4F}"/>
              </a:ext>
            </a:extLst>
          </p:cNvPr>
          <p:cNvGrpSpPr/>
          <p:nvPr/>
        </p:nvGrpSpPr>
        <p:grpSpPr>
          <a:xfrm>
            <a:off x="5880895" y="4434549"/>
            <a:ext cx="1298545" cy="834276"/>
            <a:chOff x="5880895" y="4434549"/>
            <a:chExt cx="1298545" cy="834276"/>
          </a:xfrm>
        </p:grpSpPr>
        <p:graphicFrame>
          <p:nvGraphicFramePr>
            <p:cNvPr id="88" name="Object 5">
              <a:extLst>
                <a:ext uri="{FF2B5EF4-FFF2-40B4-BE49-F238E27FC236}">
                  <a16:creationId xmlns:a16="http://schemas.microsoft.com/office/drawing/2014/main" id="{6E9E696D-385D-41D4-9189-5A7CAAD6831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36768436"/>
                </p:ext>
              </p:extLst>
            </p:nvPr>
          </p:nvGraphicFramePr>
          <p:xfrm>
            <a:off x="6889071" y="4857825"/>
            <a:ext cx="290369" cy="41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7" name="Equation" r:id="rId15" imgW="152280" imgH="139680" progId="Equation.DSMT4">
                    <p:embed/>
                  </p:oleObj>
                </mc:Choice>
                <mc:Fallback>
                  <p:oleObj name="Equation" r:id="rId15" imgW="152280" imgH="139680" progId="Equation.DSMT4">
                    <p:embed/>
                    <p:pic>
                      <p:nvPicPr>
                        <p:cNvPr id="18" name="Object 5">
                          <a:extLst>
                            <a:ext uri="{FF2B5EF4-FFF2-40B4-BE49-F238E27FC236}">
                              <a16:creationId xmlns:a16="http://schemas.microsoft.com/office/drawing/2014/main" id="{4673EB9D-6A44-4200-9645-F7C9F1CD597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89071" y="4857825"/>
                          <a:ext cx="290369" cy="41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0" name="AutoShape 21">
              <a:extLst>
                <a:ext uri="{FF2B5EF4-FFF2-40B4-BE49-F238E27FC236}">
                  <a16:creationId xmlns:a16="http://schemas.microsoft.com/office/drawing/2014/main" id="{E35113A1-2ABE-418E-AFAC-05669AC56AD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98868">
              <a:off x="6655390" y="4788159"/>
              <a:ext cx="291437" cy="348016"/>
            </a:xfrm>
            <a:prstGeom prst="curvedDownArrow">
              <a:avLst>
                <a:gd name="adj1" fmla="val 20000"/>
                <a:gd name="adj2" fmla="val 40000"/>
                <a:gd name="adj3" fmla="val 39805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GB" altLang="en-US" sz="1260"/>
            </a:p>
          </p:txBody>
        </p: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36A6549D-5E6E-42E2-A827-28759B184DB3}"/>
                </a:ext>
              </a:extLst>
            </p:cNvPr>
            <p:cNvCxnSpPr>
              <a:stCxn id="124" idx="0"/>
            </p:cNvCxnSpPr>
            <p:nvPr/>
          </p:nvCxnSpPr>
          <p:spPr>
            <a:xfrm>
              <a:off x="5880895" y="4434549"/>
              <a:ext cx="858299" cy="580738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94395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CC996B-F4AA-4371-AD4E-BE849AFD3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200" y="2700061"/>
            <a:ext cx="2557295" cy="11272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18CD0F-9319-4D18-8EC8-869DCA47FA36}"/>
              </a:ext>
            </a:extLst>
          </p:cNvPr>
          <p:cNvSpPr txBox="1"/>
          <p:nvPr/>
        </p:nvSpPr>
        <p:spPr>
          <a:xfrm>
            <a:off x="138374" y="613664"/>
            <a:ext cx="9036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S4Beam</a:t>
            </a:r>
            <a:r>
              <a:rPr lang="en-US" dirty="0"/>
              <a:t>: traditional beam data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nrays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18)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cap="none" dirty="0"/>
              <a:t>Shadow4 Kernel: Application User Interface</a:t>
            </a:r>
            <a:endParaRPr lang="en-GB" sz="2400" cap="none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3048A67-E027-410D-92BE-BCF3C8DB91F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it-IT"/>
              <a:t>HPXM2025  M. Sanchez del Rio  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A6B6DD-BF88-4498-99A8-D4503C1498F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noProof="0"/>
              <a:t>Page </a:t>
            </a:r>
            <a:fld id="{733122C9-A0B9-462F-8757-0847AD287B63}" type="slidenum">
              <a:rPr lang="en-US" noProof="0" smtClean="0"/>
              <a:pPr/>
              <a:t>2</a:t>
            </a:fld>
            <a:endParaRPr lang="en-US" noProof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BF8F9F-095B-4FD4-8E04-8EC6C7B60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3712130"/>
            <a:ext cx="2865649" cy="16185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FCC043-1906-4262-A380-69336B4E04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958" y="3073596"/>
            <a:ext cx="4088062" cy="22571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E520029-BD86-41B5-BCA5-9E893F2E8231}"/>
              </a:ext>
            </a:extLst>
          </p:cNvPr>
          <p:cNvSpPr txBox="1"/>
          <p:nvPr/>
        </p:nvSpPr>
        <p:spPr>
          <a:xfrm>
            <a:off x="107504" y="2542253"/>
            <a:ext cx="3704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Automated scripts with OASYS</a:t>
            </a: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717306-CD7A-4981-8917-AAC38C24ABA1}"/>
              </a:ext>
            </a:extLst>
          </p:cNvPr>
          <p:cNvSpPr txBox="1"/>
          <p:nvPr/>
        </p:nvSpPr>
        <p:spPr>
          <a:xfrm>
            <a:off x="3882094" y="2526417"/>
            <a:ext cx="49936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Documentation: </a:t>
            </a:r>
            <a:r>
              <a:rPr lang="en-US" sz="1600" dirty="0">
                <a:hlinkClick r:id="rId5"/>
              </a:rPr>
              <a:t>https://shadow4.readthedocs.io</a:t>
            </a:r>
            <a:br>
              <a:rPr lang="en-US" sz="2000" dirty="0"/>
            </a:b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8969D1-AB3D-46F2-B9BA-F86A8C879D19}"/>
              </a:ext>
            </a:extLst>
          </p:cNvPr>
          <p:cNvSpPr txBox="1"/>
          <p:nvPr/>
        </p:nvSpPr>
        <p:spPr>
          <a:xfrm>
            <a:off x="107504" y="1064925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API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3EC03BD-8110-48DB-8603-B647232CA1FB}"/>
              </a:ext>
            </a:extLst>
          </p:cNvPr>
          <p:cNvGrpSpPr/>
          <p:nvPr/>
        </p:nvGrpSpPr>
        <p:grpSpPr>
          <a:xfrm>
            <a:off x="590773" y="1128974"/>
            <a:ext cx="7407580" cy="1296478"/>
            <a:chOff x="107504" y="2596348"/>
            <a:chExt cx="8322240" cy="1497448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1184C2B-94A5-4B12-925E-FCD1A00C8E2F}"/>
                </a:ext>
              </a:extLst>
            </p:cNvPr>
            <p:cNvSpPr txBox="1"/>
            <p:nvPr/>
          </p:nvSpPr>
          <p:spPr>
            <a:xfrm>
              <a:off x="3787554" y="2596348"/>
              <a:ext cx="1484714" cy="35548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S4Beamline</a:t>
              </a:r>
              <a:endParaRPr lang="en-GB" sz="1400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21DDA76-E4A4-48A4-8592-F77DE75FFD12}"/>
                </a:ext>
              </a:extLst>
            </p:cNvPr>
            <p:cNvSpPr txBox="1"/>
            <p:nvPr/>
          </p:nvSpPr>
          <p:spPr>
            <a:xfrm>
              <a:off x="1041097" y="3172001"/>
              <a:ext cx="1914297" cy="35548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S4LightSource</a:t>
              </a:r>
              <a:endParaRPr lang="en-GB" sz="1400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92B8673-5895-4A50-8E6E-177180A6F4CA}"/>
                </a:ext>
              </a:extLst>
            </p:cNvPr>
            <p:cNvSpPr txBox="1"/>
            <p:nvPr/>
          </p:nvSpPr>
          <p:spPr>
            <a:xfrm>
              <a:off x="5148064" y="3181610"/>
              <a:ext cx="2304256" cy="35548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S4BeamlineElement</a:t>
              </a:r>
              <a:endParaRPr lang="en-GB" sz="1400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82FAC68-6EEC-4114-9094-838ABD55BEA5}"/>
                </a:ext>
              </a:extLst>
            </p:cNvPr>
            <p:cNvSpPr txBox="1"/>
            <p:nvPr/>
          </p:nvSpPr>
          <p:spPr>
            <a:xfrm>
              <a:off x="107504" y="3773859"/>
              <a:ext cx="1720343" cy="31993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S4ElectronBeam</a:t>
              </a:r>
              <a:endParaRPr lang="en-GB" sz="1200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26FFE5C-DCAE-4FF3-8B90-1993BE774B58}"/>
                </a:ext>
              </a:extLst>
            </p:cNvPr>
            <p:cNvSpPr txBox="1"/>
            <p:nvPr/>
          </p:nvSpPr>
          <p:spPr>
            <a:xfrm>
              <a:off x="1857962" y="3773858"/>
              <a:ext cx="2323886" cy="31993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S4MagneticStructure</a:t>
              </a:r>
              <a:endParaRPr lang="en-GB" sz="1200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4110CE6-F159-4168-A9F1-1F47039D7615}"/>
                </a:ext>
              </a:extLst>
            </p:cNvPr>
            <p:cNvSpPr txBox="1"/>
            <p:nvPr/>
          </p:nvSpPr>
          <p:spPr>
            <a:xfrm>
              <a:off x="4324200" y="3773859"/>
              <a:ext cx="1896136" cy="31993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S4OpticalElement</a:t>
              </a:r>
              <a:endParaRPr lang="en-GB" sz="1200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A40BD04-32F1-413D-9F1D-B1ACE94A04CC}"/>
                </a:ext>
              </a:extLst>
            </p:cNvPr>
            <p:cNvSpPr txBox="1"/>
            <p:nvPr/>
          </p:nvSpPr>
          <p:spPr>
            <a:xfrm>
              <a:off x="6320795" y="3758471"/>
              <a:ext cx="2108949" cy="31993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ElementCoordinates</a:t>
              </a:r>
              <a:endParaRPr lang="en-GB" sz="1200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ABB9FAA-993E-4596-99F6-42BC8EF70B7B}"/>
                </a:ext>
              </a:extLst>
            </p:cNvPr>
            <p:cNvSpPr txBox="1"/>
            <p:nvPr/>
          </p:nvSpPr>
          <p:spPr>
            <a:xfrm>
              <a:off x="7874709" y="3181610"/>
              <a:ext cx="504544" cy="36933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…</a:t>
              </a:r>
              <a:endParaRPr lang="en-GB" dirty="0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AF1D9C6E-7A0E-4E65-AFCA-E91BF52EBF5D}"/>
                </a:ext>
              </a:extLst>
            </p:cNvPr>
            <p:cNvCxnSpPr>
              <a:cxnSpLocks/>
              <a:stCxn id="34" idx="2"/>
              <a:endCxn id="36" idx="0"/>
            </p:cNvCxnSpPr>
            <p:nvPr/>
          </p:nvCxnSpPr>
          <p:spPr>
            <a:xfrm flipH="1">
              <a:off x="967676" y="3527488"/>
              <a:ext cx="1030570" cy="2463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E3FB6FE-E7BD-4A5D-B8BE-45B3114883B7}"/>
                </a:ext>
              </a:extLst>
            </p:cNvPr>
            <p:cNvCxnSpPr>
              <a:cxnSpLocks/>
              <a:stCxn id="34" idx="2"/>
              <a:endCxn id="37" idx="0"/>
            </p:cNvCxnSpPr>
            <p:nvPr/>
          </p:nvCxnSpPr>
          <p:spPr>
            <a:xfrm>
              <a:off x="1998246" y="3527488"/>
              <a:ext cx="1021659" cy="24637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CBFB9038-1B04-4225-8052-C6E7B87547BB}"/>
                </a:ext>
              </a:extLst>
            </p:cNvPr>
            <p:cNvCxnSpPr>
              <a:cxnSpLocks/>
              <a:stCxn id="35" idx="2"/>
              <a:endCxn id="38" idx="0"/>
            </p:cNvCxnSpPr>
            <p:nvPr/>
          </p:nvCxnSpPr>
          <p:spPr>
            <a:xfrm flipH="1">
              <a:off x="5272268" y="3537096"/>
              <a:ext cx="1027925" cy="23676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9ECCE2FF-D10D-4D67-8DFB-625C2482DAE2}"/>
                </a:ext>
              </a:extLst>
            </p:cNvPr>
            <p:cNvCxnSpPr>
              <a:cxnSpLocks/>
              <a:stCxn id="35" idx="2"/>
              <a:endCxn id="39" idx="0"/>
            </p:cNvCxnSpPr>
            <p:nvPr/>
          </p:nvCxnSpPr>
          <p:spPr>
            <a:xfrm>
              <a:off x="6300193" y="3537096"/>
              <a:ext cx="1075077" cy="2213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6DA785BC-8824-4D37-9659-98FA97975229}"/>
                </a:ext>
              </a:extLst>
            </p:cNvPr>
            <p:cNvCxnSpPr>
              <a:cxnSpLocks/>
              <a:stCxn id="33" idx="2"/>
              <a:endCxn id="34" idx="0"/>
            </p:cNvCxnSpPr>
            <p:nvPr/>
          </p:nvCxnSpPr>
          <p:spPr>
            <a:xfrm flipH="1">
              <a:off x="1998246" y="2951834"/>
              <a:ext cx="2531665" cy="2201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E195D2D7-DBD3-4FBD-8007-59C6BDB0260C}"/>
                </a:ext>
              </a:extLst>
            </p:cNvPr>
            <p:cNvCxnSpPr>
              <a:cxnSpLocks/>
              <a:stCxn id="33" idx="2"/>
              <a:endCxn id="35" idx="0"/>
            </p:cNvCxnSpPr>
            <p:nvPr/>
          </p:nvCxnSpPr>
          <p:spPr>
            <a:xfrm>
              <a:off x="4529911" y="2951834"/>
              <a:ext cx="1770282" cy="2297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78849820-77D3-42D0-937C-D6539303F809}"/>
                </a:ext>
              </a:extLst>
            </p:cNvPr>
            <p:cNvCxnSpPr>
              <a:cxnSpLocks/>
              <a:stCxn id="33" idx="2"/>
              <a:endCxn id="40" idx="0"/>
            </p:cNvCxnSpPr>
            <p:nvPr/>
          </p:nvCxnSpPr>
          <p:spPr>
            <a:xfrm>
              <a:off x="4529911" y="2951834"/>
              <a:ext cx="3597070" cy="2297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94777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cap="none" dirty="0"/>
              <a:t>Shadow4 Kernel: Application User Interface</a:t>
            </a:r>
            <a:endParaRPr lang="en-GB" sz="2400" cap="none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3048A67-E027-410D-92BE-BCF3C8DB91F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it-IT"/>
              <a:t>HPXM2025  M. Sanchez del Rio  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A6B6DD-BF88-4498-99A8-D4503C1498F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noProof="0"/>
              <a:t>Page </a:t>
            </a:r>
            <a:fld id="{733122C9-A0B9-462F-8757-0847AD287B63}" type="slidenum">
              <a:rPr lang="en-US" noProof="0" smtClean="0"/>
              <a:pPr/>
              <a:t>3</a:t>
            </a:fld>
            <a:endParaRPr lang="en-US" noProof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3EC03BD-8110-48DB-8603-B647232CA1FB}"/>
              </a:ext>
            </a:extLst>
          </p:cNvPr>
          <p:cNvGrpSpPr/>
          <p:nvPr/>
        </p:nvGrpSpPr>
        <p:grpSpPr>
          <a:xfrm>
            <a:off x="646621" y="819151"/>
            <a:ext cx="7407580" cy="1296478"/>
            <a:chOff x="107504" y="2596348"/>
            <a:chExt cx="8322240" cy="1497448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1184C2B-94A5-4B12-925E-FCD1A00C8E2F}"/>
                </a:ext>
              </a:extLst>
            </p:cNvPr>
            <p:cNvSpPr txBox="1"/>
            <p:nvPr/>
          </p:nvSpPr>
          <p:spPr>
            <a:xfrm>
              <a:off x="3787554" y="2596348"/>
              <a:ext cx="1484714" cy="35548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S4Beamline</a:t>
              </a:r>
              <a:endParaRPr lang="en-GB" sz="1400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21DDA76-E4A4-48A4-8592-F77DE75FFD12}"/>
                </a:ext>
              </a:extLst>
            </p:cNvPr>
            <p:cNvSpPr txBox="1"/>
            <p:nvPr/>
          </p:nvSpPr>
          <p:spPr>
            <a:xfrm>
              <a:off x="1041097" y="3172001"/>
              <a:ext cx="1914297" cy="35548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S4LightSource</a:t>
              </a:r>
              <a:endParaRPr lang="en-GB" sz="1400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92B8673-5895-4A50-8E6E-177180A6F4CA}"/>
                </a:ext>
              </a:extLst>
            </p:cNvPr>
            <p:cNvSpPr txBox="1"/>
            <p:nvPr/>
          </p:nvSpPr>
          <p:spPr>
            <a:xfrm>
              <a:off x="5148064" y="3181610"/>
              <a:ext cx="2304256" cy="35548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S4BeamlineElement</a:t>
              </a:r>
              <a:endParaRPr lang="en-GB" sz="1400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82FAC68-6EEC-4114-9094-838ABD55BEA5}"/>
                </a:ext>
              </a:extLst>
            </p:cNvPr>
            <p:cNvSpPr txBox="1"/>
            <p:nvPr/>
          </p:nvSpPr>
          <p:spPr>
            <a:xfrm>
              <a:off x="107504" y="3773859"/>
              <a:ext cx="1720343" cy="31993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S4ElectronBeam</a:t>
              </a:r>
              <a:endParaRPr lang="en-GB" sz="1200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26FFE5C-DCAE-4FF3-8B90-1993BE774B58}"/>
                </a:ext>
              </a:extLst>
            </p:cNvPr>
            <p:cNvSpPr txBox="1"/>
            <p:nvPr/>
          </p:nvSpPr>
          <p:spPr>
            <a:xfrm>
              <a:off x="1857962" y="3773858"/>
              <a:ext cx="2323886" cy="31993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S4MagneticStructure</a:t>
              </a:r>
              <a:endParaRPr lang="en-GB" sz="1200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4110CE6-F159-4168-A9F1-1F47039D7615}"/>
                </a:ext>
              </a:extLst>
            </p:cNvPr>
            <p:cNvSpPr txBox="1"/>
            <p:nvPr/>
          </p:nvSpPr>
          <p:spPr>
            <a:xfrm>
              <a:off x="4324200" y="3773859"/>
              <a:ext cx="1896136" cy="31993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S4OpticalElement</a:t>
              </a:r>
              <a:endParaRPr lang="en-GB" sz="1200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A40BD04-32F1-413D-9F1D-B1ACE94A04CC}"/>
                </a:ext>
              </a:extLst>
            </p:cNvPr>
            <p:cNvSpPr txBox="1"/>
            <p:nvPr/>
          </p:nvSpPr>
          <p:spPr>
            <a:xfrm>
              <a:off x="6320795" y="3758471"/>
              <a:ext cx="2108949" cy="31993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ElementCoordinates</a:t>
              </a:r>
              <a:endParaRPr lang="en-GB" sz="1200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ABB9FAA-993E-4596-99F6-42BC8EF70B7B}"/>
                </a:ext>
              </a:extLst>
            </p:cNvPr>
            <p:cNvSpPr txBox="1"/>
            <p:nvPr/>
          </p:nvSpPr>
          <p:spPr>
            <a:xfrm>
              <a:off x="7874709" y="3181610"/>
              <a:ext cx="504544" cy="36933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…</a:t>
              </a:r>
              <a:endParaRPr lang="en-GB" dirty="0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AF1D9C6E-7A0E-4E65-AFCA-E91BF52EBF5D}"/>
                </a:ext>
              </a:extLst>
            </p:cNvPr>
            <p:cNvCxnSpPr>
              <a:cxnSpLocks/>
              <a:stCxn id="34" idx="2"/>
              <a:endCxn id="36" idx="0"/>
            </p:cNvCxnSpPr>
            <p:nvPr/>
          </p:nvCxnSpPr>
          <p:spPr>
            <a:xfrm flipH="1">
              <a:off x="967676" y="3527488"/>
              <a:ext cx="1030570" cy="2463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E3FB6FE-E7BD-4A5D-B8BE-45B3114883B7}"/>
                </a:ext>
              </a:extLst>
            </p:cNvPr>
            <p:cNvCxnSpPr>
              <a:cxnSpLocks/>
              <a:stCxn id="34" idx="2"/>
              <a:endCxn id="37" idx="0"/>
            </p:cNvCxnSpPr>
            <p:nvPr/>
          </p:nvCxnSpPr>
          <p:spPr>
            <a:xfrm>
              <a:off x="1998246" y="3527488"/>
              <a:ext cx="1021659" cy="24637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CBFB9038-1B04-4225-8052-C6E7B87547BB}"/>
                </a:ext>
              </a:extLst>
            </p:cNvPr>
            <p:cNvCxnSpPr>
              <a:cxnSpLocks/>
              <a:stCxn id="35" idx="2"/>
              <a:endCxn id="38" idx="0"/>
            </p:cNvCxnSpPr>
            <p:nvPr/>
          </p:nvCxnSpPr>
          <p:spPr>
            <a:xfrm flipH="1">
              <a:off x="5272268" y="3537096"/>
              <a:ext cx="1027925" cy="23676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9ECCE2FF-D10D-4D67-8DFB-625C2482DAE2}"/>
                </a:ext>
              </a:extLst>
            </p:cNvPr>
            <p:cNvCxnSpPr>
              <a:cxnSpLocks/>
              <a:stCxn id="35" idx="2"/>
              <a:endCxn id="39" idx="0"/>
            </p:cNvCxnSpPr>
            <p:nvPr/>
          </p:nvCxnSpPr>
          <p:spPr>
            <a:xfrm>
              <a:off x="6300193" y="3537096"/>
              <a:ext cx="1075077" cy="2213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6DA785BC-8824-4D37-9659-98FA97975229}"/>
                </a:ext>
              </a:extLst>
            </p:cNvPr>
            <p:cNvCxnSpPr>
              <a:cxnSpLocks/>
              <a:stCxn id="33" idx="2"/>
              <a:endCxn id="34" idx="0"/>
            </p:cNvCxnSpPr>
            <p:nvPr/>
          </p:nvCxnSpPr>
          <p:spPr>
            <a:xfrm flipH="1">
              <a:off x="1998246" y="2951834"/>
              <a:ext cx="2531665" cy="2201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E195D2D7-DBD3-4FBD-8007-59C6BDB0260C}"/>
                </a:ext>
              </a:extLst>
            </p:cNvPr>
            <p:cNvCxnSpPr>
              <a:cxnSpLocks/>
              <a:stCxn id="33" idx="2"/>
              <a:endCxn id="35" idx="0"/>
            </p:cNvCxnSpPr>
            <p:nvPr/>
          </p:nvCxnSpPr>
          <p:spPr>
            <a:xfrm>
              <a:off x="4529911" y="2951834"/>
              <a:ext cx="1770282" cy="2297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78849820-77D3-42D0-937C-D6539303F809}"/>
                </a:ext>
              </a:extLst>
            </p:cNvPr>
            <p:cNvCxnSpPr>
              <a:cxnSpLocks/>
              <a:stCxn id="33" idx="2"/>
              <a:endCxn id="40" idx="0"/>
            </p:cNvCxnSpPr>
            <p:nvPr/>
          </p:nvCxnSpPr>
          <p:spPr>
            <a:xfrm>
              <a:off x="4529911" y="2951834"/>
              <a:ext cx="3597070" cy="2297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6C2EE5D-23CD-4457-8391-DB4DF3F20553}"/>
              </a:ext>
            </a:extLst>
          </p:cNvPr>
          <p:cNvGrpSpPr/>
          <p:nvPr/>
        </p:nvGrpSpPr>
        <p:grpSpPr>
          <a:xfrm>
            <a:off x="1331640" y="2406220"/>
            <a:ext cx="6576594" cy="1296478"/>
            <a:chOff x="1041097" y="2596348"/>
            <a:chExt cx="7388647" cy="1497448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A9701F4-908A-4B4D-8567-843A088722D4}"/>
                </a:ext>
              </a:extLst>
            </p:cNvPr>
            <p:cNvSpPr txBox="1"/>
            <p:nvPr/>
          </p:nvSpPr>
          <p:spPr>
            <a:xfrm>
              <a:off x="3787554" y="2596348"/>
              <a:ext cx="1484714" cy="35548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S4Beamline</a:t>
              </a:r>
              <a:endParaRPr lang="en-GB" sz="14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54CFD-FE76-457F-B681-81F165BCC11A}"/>
                </a:ext>
              </a:extLst>
            </p:cNvPr>
            <p:cNvSpPr txBox="1"/>
            <p:nvPr/>
          </p:nvSpPr>
          <p:spPr>
            <a:xfrm>
              <a:off x="1041097" y="3172001"/>
              <a:ext cx="1914297" cy="35548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S4LightSource</a:t>
              </a:r>
              <a:endParaRPr lang="en-GB" sz="14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0F65835-44C6-4295-8103-1D82A9FF9543}"/>
                </a:ext>
              </a:extLst>
            </p:cNvPr>
            <p:cNvSpPr txBox="1"/>
            <p:nvPr/>
          </p:nvSpPr>
          <p:spPr>
            <a:xfrm>
              <a:off x="4711708" y="3181610"/>
              <a:ext cx="2740612" cy="35548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S4PlaneCrystalElement</a:t>
              </a:r>
              <a:endParaRPr lang="en-GB" sz="1400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826418E-0FA8-46DC-8E05-F5B702E01136}"/>
                </a:ext>
              </a:extLst>
            </p:cNvPr>
            <p:cNvSpPr txBox="1"/>
            <p:nvPr/>
          </p:nvSpPr>
          <p:spPr>
            <a:xfrm>
              <a:off x="4324200" y="3773859"/>
              <a:ext cx="1896136" cy="31993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S4PlaneCrystal</a:t>
              </a:r>
              <a:endParaRPr lang="en-GB" sz="1200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4AAA265-FF7B-4A29-99F8-50B09DB4C42C}"/>
                </a:ext>
              </a:extLst>
            </p:cNvPr>
            <p:cNvSpPr txBox="1"/>
            <p:nvPr/>
          </p:nvSpPr>
          <p:spPr>
            <a:xfrm>
              <a:off x="6320795" y="3758471"/>
              <a:ext cx="2108949" cy="31993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ElementCoordinates</a:t>
              </a:r>
              <a:endParaRPr lang="en-GB" sz="1200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F6D8CDC-15BC-4A1B-9AE8-1F7A7697B4FF}"/>
                </a:ext>
              </a:extLst>
            </p:cNvPr>
            <p:cNvSpPr txBox="1"/>
            <p:nvPr/>
          </p:nvSpPr>
          <p:spPr>
            <a:xfrm>
              <a:off x="7874709" y="3181610"/>
              <a:ext cx="504544" cy="36933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…</a:t>
              </a:r>
              <a:endParaRPr lang="en-GB" dirty="0"/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ED871EB5-5F3F-40B2-BE9F-C0F4EF7B482F}"/>
                </a:ext>
              </a:extLst>
            </p:cNvPr>
            <p:cNvCxnSpPr>
              <a:cxnSpLocks/>
              <a:stCxn id="31" idx="2"/>
              <a:endCxn id="50" idx="0"/>
            </p:cNvCxnSpPr>
            <p:nvPr/>
          </p:nvCxnSpPr>
          <p:spPr>
            <a:xfrm flipH="1">
              <a:off x="5272268" y="3537096"/>
              <a:ext cx="809747" cy="23676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B81F9290-1211-4A74-97A0-07DFA7475B1A}"/>
                </a:ext>
              </a:extLst>
            </p:cNvPr>
            <p:cNvCxnSpPr>
              <a:cxnSpLocks/>
              <a:stCxn id="31" idx="2"/>
              <a:endCxn id="51" idx="0"/>
            </p:cNvCxnSpPr>
            <p:nvPr/>
          </p:nvCxnSpPr>
          <p:spPr>
            <a:xfrm>
              <a:off x="6082015" y="3537096"/>
              <a:ext cx="1293255" cy="2213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B553B7D3-B27A-4E8F-B7CB-E924E3F69B0E}"/>
                </a:ext>
              </a:extLst>
            </p:cNvPr>
            <p:cNvCxnSpPr>
              <a:cxnSpLocks/>
              <a:stCxn id="29" idx="2"/>
              <a:endCxn id="30" idx="0"/>
            </p:cNvCxnSpPr>
            <p:nvPr/>
          </p:nvCxnSpPr>
          <p:spPr>
            <a:xfrm flipH="1">
              <a:off x="1998246" y="2951834"/>
              <a:ext cx="2531665" cy="2201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8FB8DBB6-4F8B-4B9B-967F-7E5779967FF9}"/>
                </a:ext>
              </a:extLst>
            </p:cNvPr>
            <p:cNvCxnSpPr>
              <a:cxnSpLocks/>
              <a:stCxn id="29" idx="2"/>
              <a:endCxn id="31" idx="0"/>
            </p:cNvCxnSpPr>
            <p:nvPr/>
          </p:nvCxnSpPr>
          <p:spPr>
            <a:xfrm>
              <a:off x="4529911" y="2951834"/>
              <a:ext cx="1552104" cy="2297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A3418519-C892-472C-A944-EE69344D54BF}"/>
                </a:ext>
              </a:extLst>
            </p:cNvPr>
            <p:cNvCxnSpPr>
              <a:cxnSpLocks/>
              <a:stCxn id="29" idx="2"/>
              <a:endCxn id="52" idx="0"/>
            </p:cNvCxnSpPr>
            <p:nvPr/>
          </p:nvCxnSpPr>
          <p:spPr>
            <a:xfrm>
              <a:off x="4529911" y="2951834"/>
              <a:ext cx="3597070" cy="2297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DC10F7D-0DE2-4ABE-9E7A-8A38A4C286BB}"/>
              </a:ext>
            </a:extLst>
          </p:cNvPr>
          <p:cNvSpPr txBox="1"/>
          <p:nvPr/>
        </p:nvSpPr>
        <p:spPr>
          <a:xfrm>
            <a:off x="323528" y="913284"/>
            <a:ext cx="2351926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Generic: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Plane Crystal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Plane </a:t>
            </a:r>
            <a:r>
              <a:rPr lang="en-US" dirty="0">
                <a:solidFill>
                  <a:srgbClr val="FF0000"/>
                </a:solidFill>
              </a:rPr>
              <a:t>Mosaic</a:t>
            </a:r>
            <a:r>
              <a:rPr lang="en-US" dirty="0"/>
              <a:t> Crystal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339F5A-00B3-43AE-879E-853FE1E14EED}"/>
              </a:ext>
            </a:extLst>
          </p:cNvPr>
          <p:cNvSpPr txBox="1"/>
          <p:nvPr/>
        </p:nvSpPr>
        <p:spPr>
          <a:xfrm>
            <a:off x="7490087" y="3910391"/>
            <a:ext cx="17353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err="1"/>
              <a:t>trace_beam</a:t>
            </a:r>
            <a:r>
              <a:rPr lang="en-US" sz="1050" dirty="0"/>
              <a:t> in: S4CrystalElement</a:t>
            </a:r>
          </a:p>
          <a:p>
            <a:endParaRPr lang="en-US" sz="1050" dirty="0"/>
          </a:p>
          <a:p>
            <a:r>
              <a:rPr lang="en-US" sz="1050" dirty="0"/>
              <a:t>Container (parameters)</a:t>
            </a:r>
          </a:p>
          <a:p>
            <a:endParaRPr lang="en-US" sz="1050" dirty="0"/>
          </a:p>
          <a:p>
            <a:r>
              <a:rPr lang="en-US" sz="1050" dirty="0" err="1"/>
              <a:t>trace_beam</a:t>
            </a:r>
            <a:r>
              <a:rPr lang="en-US" sz="1050" dirty="0"/>
              <a:t> in: S4MosaicCrystalElement</a:t>
            </a:r>
          </a:p>
          <a:p>
            <a:endParaRPr lang="en-GB" sz="105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6E16F73-4417-4193-8919-AEEDE286E51D}"/>
              </a:ext>
            </a:extLst>
          </p:cNvPr>
          <p:cNvCxnSpPr>
            <a:cxnSpLocks/>
          </p:cNvCxnSpPr>
          <p:nvPr/>
        </p:nvCxnSpPr>
        <p:spPr>
          <a:xfrm flipH="1" flipV="1">
            <a:off x="6694746" y="3200662"/>
            <a:ext cx="1117614" cy="7567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BE996B6F-D4C0-4F5D-A8E2-DA07DD34E395}"/>
              </a:ext>
            </a:extLst>
          </p:cNvPr>
          <p:cNvSpPr txBox="1"/>
          <p:nvPr/>
        </p:nvSpPr>
        <p:spPr>
          <a:xfrm>
            <a:off x="3531908" y="4414090"/>
            <a:ext cx="3309403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S4Plane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Mosaic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CrystalElement</a:t>
            </a:r>
            <a:endParaRPr lang="en-GB" sz="14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620F1E0-6A6C-4A81-8D02-0D77BE3C6FEC}"/>
              </a:ext>
            </a:extLst>
          </p:cNvPr>
          <p:cNvSpPr txBox="1"/>
          <p:nvPr/>
        </p:nvSpPr>
        <p:spPr>
          <a:xfrm>
            <a:off x="2724319" y="4909399"/>
            <a:ext cx="2269488" cy="2769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S4Plane</a:t>
            </a:r>
            <a:r>
              <a:rPr lang="en-US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Mosaic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Crystal</a:t>
            </a:r>
            <a:endParaRPr lang="en-GB" sz="12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E2D0A0D-D5EE-4662-854A-7C0E53F456AB}"/>
              </a:ext>
            </a:extLst>
          </p:cNvPr>
          <p:cNvSpPr txBox="1"/>
          <p:nvPr/>
        </p:nvSpPr>
        <p:spPr>
          <a:xfrm>
            <a:off x="5083225" y="4896076"/>
            <a:ext cx="1877164" cy="2769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ElementCoordinates</a:t>
            </a:r>
            <a:endParaRPr lang="en-GB" sz="1200" dirty="0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3D3BC73-5946-420F-9D10-A2AD67D3B63C}"/>
              </a:ext>
            </a:extLst>
          </p:cNvPr>
          <p:cNvCxnSpPr>
            <a:cxnSpLocks/>
            <a:stCxn id="60" idx="2"/>
            <a:endCxn id="61" idx="0"/>
          </p:cNvCxnSpPr>
          <p:nvPr/>
        </p:nvCxnSpPr>
        <p:spPr>
          <a:xfrm flipH="1">
            <a:off x="3859063" y="4721867"/>
            <a:ext cx="1327547" cy="187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4518C22-DB53-4B54-A282-B43CB433BBAF}"/>
              </a:ext>
            </a:extLst>
          </p:cNvPr>
          <p:cNvCxnSpPr>
            <a:cxnSpLocks/>
            <a:stCxn id="60" idx="2"/>
            <a:endCxn id="62" idx="0"/>
          </p:cNvCxnSpPr>
          <p:nvPr/>
        </p:nvCxnSpPr>
        <p:spPr>
          <a:xfrm>
            <a:off x="5186610" y="4721867"/>
            <a:ext cx="835197" cy="1742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E35E1E9F-36C2-4933-AF67-4E2F98EE5F61}"/>
              </a:ext>
            </a:extLst>
          </p:cNvPr>
          <p:cNvCxnSpPr>
            <a:cxnSpLocks/>
          </p:cNvCxnSpPr>
          <p:nvPr/>
        </p:nvCxnSpPr>
        <p:spPr>
          <a:xfrm flipH="1" flipV="1">
            <a:off x="5813116" y="3675485"/>
            <a:ext cx="1747051" cy="7386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45FB720-DB14-461D-8E6B-2011FE4E2FC2}"/>
              </a:ext>
            </a:extLst>
          </p:cNvPr>
          <p:cNvCxnSpPr>
            <a:cxnSpLocks/>
          </p:cNvCxnSpPr>
          <p:nvPr/>
        </p:nvCxnSpPr>
        <p:spPr>
          <a:xfrm flipH="1">
            <a:off x="4765559" y="4513684"/>
            <a:ext cx="2794608" cy="511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32FEBCB-E90B-4DB5-8F18-B45CF8832B7D}"/>
              </a:ext>
            </a:extLst>
          </p:cNvPr>
          <p:cNvCxnSpPr>
            <a:cxnSpLocks/>
          </p:cNvCxnSpPr>
          <p:nvPr/>
        </p:nvCxnSpPr>
        <p:spPr>
          <a:xfrm flipH="1" flipV="1">
            <a:off x="6548749" y="4573208"/>
            <a:ext cx="971361" cy="1762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B5AFE321-C330-4D93-B10F-58F85AD0A34F}"/>
              </a:ext>
            </a:extLst>
          </p:cNvPr>
          <p:cNvSpPr/>
          <p:nvPr/>
        </p:nvSpPr>
        <p:spPr>
          <a:xfrm>
            <a:off x="251520" y="697260"/>
            <a:ext cx="8245859" cy="1495654"/>
          </a:xfrm>
          <a:prstGeom prst="rect">
            <a:avLst/>
          </a:prstGeom>
          <a:solidFill>
            <a:schemeClr val="accent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14FC56A-ECB8-4AE3-A487-B064519706FA}"/>
              </a:ext>
            </a:extLst>
          </p:cNvPr>
          <p:cNvSpPr/>
          <p:nvPr/>
        </p:nvSpPr>
        <p:spPr>
          <a:xfrm>
            <a:off x="245864" y="2314061"/>
            <a:ext cx="8245859" cy="1495654"/>
          </a:xfrm>
          <a:prstGeom prst="rect">
            <a:avLst/>
          </a:prstGeom>
          <a:solidFill>
            <a:schemeClr val="accent5">
              <a:lumMod val="60000"/>
              <a:lumOff val="40000"/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AFFB732-FF69-4966-865D-3C781473D10F}"/>
              </a:ext>
            </a:extLst>
          </p:cNvPr>
          <p:cNvSpPr/>
          <p:nvPr/>
        </p:nvSpPr>
        <p:spPr>
          <a:xfrm>
            <a:off x="240786" y="4187131"/>
            <a:ext cx="6957051" cy="1259458"/>
          </a:xfrm>
          <a:prstGeom prst="rect">
            <a:avLst/>
          </a:prstGeom>
          <a:solidFill>
            <a:srgbClr val="FF0000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1326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1FFF6-7C30-44D8-8766-CED263C94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sz="2800" cap="none" dirty="0"/>
              <a:t>Shadow4: </a:t>
            </a:r>
            <a:r>
              <a:rPr lang="en-GB" sz="2800" cap="none" dirty="0"/>
              <a:t>Optical Elements</a:t>
            </a:r>
            <a:endParaRPr lang="en-GB" cap="non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6326BC-40E2-41A6-84A4-1F50498A2F0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noProof="0"/>
              <a:t>Page </a:t>
            </a:r>
            <a:fld id="{733122C9-A0B9-462F-8757-0847AD287B63}" type="slidenum">
              <a:rPr lang="en-US" noProof="0" smtClean="0"/>
              <a:pPr/>
              <a:t>4</a:t>
            </a:fld>
            <a:endParaRPr lang="en-US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3812A4-5CE8-4901-9ECC-E16BC86E3F6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it-IT" noProof="0"/>
              <a:t>HPXM2025  M. Sanchez del Rio  </a:t>
            </a:r>
            <a:endParaRPr lang="en-US" noProof="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5EDB5C72-532B-4110-86F3-5983283BA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001" y="1763935"/>
            <a:ext cx="1958510" cy="218713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76021100-FF0D-4602-82CD-8CE8FD28EC69}"/>
              </a:ext>
            </a:extLst>
          </p:cNvPr>
          <p:cNvSpPr txBox="1"/>
          <p:nvPr/>
        </p:nvSpPr>
        <p:spPr>
          <a:xfrm>
            <a:off x="119543" y="1763166"/>
            <a:ext cx="677325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Optical elements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S4Screen</a:t>
            </a:r>
            <a:r>
              <a:rPr lang="en-US" sz="1400" dirty="0"/>
              <a:t> (screens, slits, stops, absorbers)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S4IdealLens</a:t>
            </a:r>
            <a:r>
              <a:rPr lang="en-US" sz="1400" dirty="0"/>
              <a:t>,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S4Empty</a:t>
            </a:r>
            <a:r>
              <a:rPr lang="en-US" sz="1400" dirty="0"/>
              <a:t>,… (ideal elements)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S4PlaneMirror</a:t>
            </a:r>
            <a:r>
              <a:rPr lang="en-US" sz="1400" dirty="0"/>
              <a:t>,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S4SphereMirror</a:t>
            </a:r>
            <a:r>
              <a:rPr lang="en-US" sz="1400" dirty="0"/>
              <a:t>,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S4EllipsoidalMirror</a:t>
            </a:r>
            <a:r>
              <a:rPr lang="en-US" sz="1400" dirty="0"/>
              <a:t>, …,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S4AdditionalNumericalMeshMirror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S4PlaneGrating</a:t>
            </a:r>
            <a:r>
              <a:rPr lang="en-US" sz="1400" dirty="0"/>
              <a:t>, … (including VLS)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S4PlaneCrystal</a:t>
            </a:r>
            <a:r>
              <a:rPr lang="en-US" sz="1400" dirty="0"/>
              <a:t>, … (undistorted perfect crystals in reflection)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S4PlaneMosaicCrystal</a:t>
            </a:r>
            <a:r>
              <a:rPr lang="en-US" sz="1400" dirty="0">
                <a:solidFill>
                  <a:srgbClr val="FF0000"/>
                </a:solidFill>
              </a:rPr>
              <a:t>, … (mosaic crystals in reflection)</a:t>
            </a:r>
            <a:endParaRPr lang="en-US" sz="14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S4PlaneMultilayer</a:t>
            </a:r>
            <a:r>
              <a:rPr lang="en-US" sz="1400" dirty="0"/>
              <a:t>, … (also graded, in depth or laterally)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S4Interface</a:t>
            </a:r>
            <a:r>
              <a:rPr lang="en-US" sz="1400" dirty="0"/>
              <a:t>,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S4Lens</a:t>
            </a:r>
            <a:r>
              <a:rPr lang="en-US" sz="1400" dirty="0"/>
              <a:t>,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S4CRL</a:t>
            </a:r>
            <a:r>
              <a:rPr lang="en-US" sz="1400" dirty="0"/>
              <a:t>,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S4Transfocator</a:t>
            </a:r>
            <a:r>
              <a:rPr lang="en-US" sz="1400" dirty="0"/>
              <a:t> (refractors)</a:t>
            </a:r>
          </a:p>
        </p:txBody>
      </p:sp>
    </p:spTree>
    <p:extLst>
      <p:ext uri="{BB962C8B-B14F-4D97-AF65-F5344CB8AC3E}">
        <p14:creationId xmlns:p14="http://schemas.microsoft.com/office/powerpoint/2010/main" val="59455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12D6D52-BAF0-4D0D-AB84-9548A6E02728}"/>
              </a:ext>
            </a:extLst>
          </p:cNvPr>
          <p:cNvSpPr txBox="1"/>
          <p:nvPr/>
        </p:nvSpPr>
        <p:spPr>
          <a:xfrm>
            <a:off x="140123" y="4700236"/>
            <a:ext cx="8464325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Mosaic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B1146B-A5BF-4772-8C39-C7F3154C7B47}"/>
              </a:ext>
            </a:extLst>
          </p:cNvPr>
          <p:cNvSpPr txBox="1"/>
          <p:nvPr/>
        </p:nvSpPr>
        <p:spPr>
          <a:xfrm>
            <a:off x="140123" y="858359"/>
            <a:ext cx="8464325" cy="369331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Perfect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21FFF6-7C30-44D8-8766-CED263C94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Crystal Optics</a:t>
            </a:r>
            <a:endParaRPr lang="en-GB" cap="non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6326BC-40E2-41A6-84A4-1F50498A2F0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noProof="0"/>
              <a:t>Page </a:t>
            </a:r>
            <a:fld id="{733122C9-A0B9-462F-8757-0847AD287B63}" type="slidenum">
              <a:rPr lang="en-US" noProof="0" smtClean="0"/>
              <a:pPr/>
              <a:t>5</a:t>
            </a:fld>
            <a:endParaRPr lang="en-US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3812A4-5CE8-4901-9ECC-E16BC86E3F6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it-IT" noProof="0" dirty="0"/>
              <a:t>HPXM2025  M. Sanchez del Rio  </a:t>
            </a:r>
            <a:endParaRPr lang="en-US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9A8545-A02F-46AA-95F4-B9C321B6E509}"/>
              </a:ext>
            </a:extLst>
          </p:cNvPr>
          <p:cNvSpPr txBox="1"/>
          <p:nvPr/>
        </p:nvSpPr>
        <p:spPr>
          <a:xfrm>
            <a:off x="1161287" y="827582"/>
            <a:ext cx="7341049" cy="42780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Dynamical theory for undistorted crystals (</a:t>
            </a:r>
            <a:r>
              <a:rPr lang="en-US" sz="1600" i="1" dirty="0" err="1"/>
              <a:t>crystalpy</a:t>
            </a:r>
            <a:r>
              <a:rPr lang="en-US" sz="1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Bragg: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Flat symmetric (most Double Crystal </a:t>
            </a:r>
            <a:r>
              <a:rPr lang="en-US" sz="1600" dirty="0" err="1"/>
              <a:t>Monochropmators</a:t>
            </a:r>
            <a:r>
              <a:rPr lang="en-US" sz="1600" dirty="0"/>
              <a:t>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Asymmetric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beam expansion (real or divergence)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high resolution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backscattering (rainbow)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Distorted/bent crystal diffraction profile via external reflectivity (TO DO)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Geometric effect of bending (Johann, Rowland, etc.)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Johansson (TO DO)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Types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Si, Ge, C*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High d-spacing: Quartz, sapphire, ADP, YB66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(any structure)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Laue (TO DO) (Thin undeformed crystals in shadow3)</a:t>
            </a:r>
          </a:p>
          <a:p>
            <a:br>
              <a:rPr lang="en-US" sz="1600" dirty="0"/>
            </a:br>
            <a:r>
              <a:rPr lang="en-US" sz="1600" dirty="0"/>
              <a:t>(TO DO) (symmetric Bragg in shadow3)</a:t>
            </a:r>
          </a:p>
        </p:txBody>
      </p:sp>
      <p:grpSp>
        <p:nvGrpSpPr>
          <p:cNvPr id="8" name="Group 21">
            <a:extLst>
              <a:ext uri="{FF2B5EF4-FFF2-40B4-BE49-F238E27FC236}">
                <a16:creationId xmlns:a16="http://schemas.microsoft.com/office/drawing/2014/main" id="{35B6664B-AFB7-4C0D-90A7-ED98C7D6653A}"/>
              </a:ext>
            </a:extLst>
          </p:cNvPr>
          <p:cNvGrpSpPr>
            <a:grpSpLocks/>
          </p:cNvGrpSpPr>
          <p:nvPr/>
        </p:nvGrpSpPr>
        <p:grpSpPr bwMode="auto">
          <a:xfrm>
            <a:off x="7435760" y="784080"/>
            <a:ext cx="1272473" cy="858168"/>
            <a:chOff x="768" y="3120"/>
            <a:chExt cx="1536" cy="1237"/>
          </a:xfrm>
        </p:grpSpPr>
        <p:grpSp>
          <p:nvGrpSpPr>
            <p:cNvPr id="9" name="Group 18">
              <a:extLst>
                <a:ext uri="{FF2B5EF4-FFF2-40B4-BE49-F238E27FC236}">
                  <a16:creationId xmlns:a16="http://schemas.microsoft.com/office/drawing/2014/main" id="{D04379DD-8D16-44AD-BED8-CB42D4FB7B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" y="3120"/>
              <a:ext cx="1536" cy="924"/>
              <a:chOff x="672" y="3024"/>
              <a:chExt cx="1536" cy="924"/>
            </a:xfrm>
          </p:grpSpPr>
          <p:sp>
            <p:nvSpPr>
              <p:cNvPr id="11" name="Rectangle 4" descr="Light horizontal">
                <a:extLst>
                  <a:ext uri="{FF2B5EF4-FFF2-40B4-BE49-F238E27FC236}">
                    <a16:creationId xmlns:a16="http://schemas.microsoft.com/office/drawing/2014/main" id="{89905F23-7E79-4CD1-9B98-87A70CA95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" y="3660"/>
                <a:ext cx="1536" cy="288"/>
              </a:xfrm>
              <a:prstGeom prst="rect">
                <a:avLst/>
              </a:prstGeom>
              <a:pattFill prst="ltHorz">
                <a:fgClr>
                  <a:schemeClr val="tx1"/>
                </a:fgClr>
                <a:bgClr>
                  <a:srgbClr val="FFFFFF"/>
                </a:bgClr>
              </a:patt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2" name="Line 6">
                <a:extLst>
                  <a:ext uri="{FF2B5EF4-FFF2-40B4-BE49-F238E27FC236}">
                    <a16:creationId xmlns:a16="http://schemas.microsoft.com/office/drawing/2014/main" id="{6B015F2B-21F8-4242-A8A9-9605FA06F3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3168"/>
                <a:ext cx="576" cy="480"/>
              </a:xfrm>
              <a:prstGeom prst="line">
                <a:avLst/>
              </a:prstGeom>
              <a:noFill/>
              <a:ln w="1016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4" name="Line 8">
                <a:extLst>
                  <a:ext uri="{FF2B5EF4-FFF2-40B4-BE49-F238E27FC236}">
                    <a16:creationId xmlns:a16="http://schemas.microsoft.com/office/drawing/2014/main" id="{1A6A7555-6890-4FAE-A484-A6BD7DFBE7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341321">
                <a:off x="1488" y="3072"/>
                <a:ext cx="576" cy="480"/>
              </a:xfrm>
              <a:prstGeom prst="line">
                <a:avLst/>
              </a:prstGeom>
              <a:noFill/>
              <a:ln w="1016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10" name="Text Box 16">
              <a:extLst>
                <a:ext uri="{FF2B5EF4-FFF2-40B4-BE49-F238E27FC236}">
                  <a16:creationId xmlns:a16="http://schemas.microsoft.com/office/drawing/2014/main" id="{C1CE06AC-D30A-4AA4-968C-B9BEE521D3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3840"/>
              <a:ext cx="137" cy="5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endParaRPr lang="en-GB" sz="3200" b="1" dirty="0">
                <a:latin typeface="Arial" pitchFamily="34" charset="0"/>
              </a:endParaRP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23DAA256-8961-47D7-A9F2-DAFD2DF9C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5423" y="1623106"/>
            <a:ext cx="1442810" cy="80900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BC96606-4506-41FF-91EA-7253CCF330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244731" y="3947151"/>
            <a:ext cx="1604303" cy="1108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681096"/>
      </p:ext>
    </p:extLst>
  </p:cSld>
  <p:clrMapOvr>
    <a:masterClrMapping/>
  </p:clrMapOvr>
</p:sld>
</file>

<file path=ppt/theme/theme1.xml><?xml version="1.0" encoding="utf-8"?>
<a:theme xmlns:a="http://schemas.openxmlformats.org/drawingml/2006/main" name="ESRF - default">
  <a:themeElements>
    <a:clrScheme name="ESRF">
      <a:dk1>
        <a:sysClr val="windowText" lastClr="000000"/>
      </a:dk1>
      <a:lt1>
        <a:sysClr val="window" lastClr="FFFFFF"/>
      </a:lt1>
      <a:dk2>
        <a:srgbClr val="B7B9BA"/>
      </a:dk2>
      <a:lt2>
        <a:srgbClr val="AF007C"/>
      </a:lt2>
      <a:accent1>
        <a:srgbClr val="132577"/>
      </a:accent1>
      <a:accent2>
        <a:srgbClr val="ED7703"/>
      </a:accent2>
      <a:accent3>
        <a:srgbClr val="F4A300"/>
      </a:accent3>
      <a:accent4>
        <a:srgbClr val="FFDD00"/>
      </a:accent4>
      <a:accent5>
        <a:srgbClr val="51A026"/>
      </a:accent5>
      <a:accent6>
        <a:srgbClr val="0098D4"/>
      </a:accent6>
      <a:hlink>
        <a:srgbClr val="000000"/>
      </a:hlink>
      <a:folHlink>
        <a:srgbClr val="000000"/>
      </a:folHlink>
    </a:clrScheme>
    <a:fontScheme name="Solocal_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8993</TotalTime>
  <Words>457</Words>
  <Application>Microsoft Office PowerPoint</Application>
  <PresentationFormat>On-screen Show (16:10)</PresentationFormat>
  <Paragraphs>111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ＭＳ Ｐゴシック</vt:lpstr>
      <vt:lpstr>Arial</vt:lpstr>
      <vt:lpstr>Calibri</vt:lpstr>
      <vt:lpstr>Cambria Math</vt:lpstr>
      <vt:lpstr>Courier New</vt:lpstr>
      <vt:lpstr>ITCOfficinaSans LT Book</vt:lpstr>
      <vt:lpstr>Wingdings</vt:lpstr>
      <vt:lpstr>ESRF - default</vt:lpstr>
      <vt:lpstr>Equation</vt:lpstr>
      <vt:lpstr>Ray Tracing and Geometrical Optics</vt:lpstr>
      <vt:lpstr>Shadow4 Kernel: Application User Interface</vt:lpstr>
      <vt:lpstr>Shadow4 Kernel: Application User Interface</vt:lpstr>
      <vt:lpstr>Shadow4: Optical Elements</vt:lpstr>
      <vt:lpstr>Crystal Optics</vt:lpstr>
    </vt:vector>
  </TitlesOfParts>
  <Company>E.S.R.F.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REYES HERRERA Juan</dc:creator>
  <cp:lastModifiedBy>SANCHEZ DEL RIO Manuel</cp:lastModifiedBy>
  <cp:revision>385</cp:revision>
  <dcterms:created xsi:type="dcterms:W3CDTF">2023-04-03T09:35:45Z</dcterms:created>
  <dcterms:modified xsi:type="dcterms:W3CDTF">2026-03-04T15:16:34Z</dcterms:modified>
</cp:coreProperties>
</file>